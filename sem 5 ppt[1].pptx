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31"/>
  </p:notesMasterIdLst>
  <p:sldIdLst>
    <p:sldId id="256" r:id="rId3"/>
    <p:sldId id="306" r:id="rId4"/>
    <p:sldId id="291" r:id="rId5"/>
    <p:sldId id="260" r:id="rId6"/>
    <p:sldId id="283" r:id="rId7"/>
    <p:sldId id="284" r:id="rId8"/>
    <p:sldId id="323" r:id="rId9"/>
    <p:sldId id="325" r:id="rId10"/>
    <p:sldId id="285" r:id="rId11"/>
    <p:sldId id="287" r:id="rId12"/>
    <p:sldId id="289" r:id="rId13"/>
    <p:sldId id="292"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 id="305" r:id="rId27"/>
    <p:sldId id="290" r:id="rId28"/>
    <p:sldId id="288" r:id="rId29"/>
    <p:sldId id="282" r:id="rId30"/>
  </p:sldIdLst>
  <p:sldSz cx="12192000" cy="6858000"/>
  <p:notesSz cx="7053263" cy="9309100"/>
  <p:embeddedFontLst>
    <p:embeddedFont>
      <p:font typeface="Century Gothic" panose="020B0502020202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gJtuBJeB67g6nW2Z7qTAssBOKJQ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8D30D0-A039-453F-B28D-537FD1C3BDF9}">
  <a:tblStyle styleId="{598D30D0-A039-453F-B28D-537FD1C3BDF9}"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26" autoAdjust="0"/>
    <p:restoredTop sz="94660"/>
  </p:normalViewPr>
  <p:slideViewPr>
    <p:cSldViewPr snapToGrid="0">
      <p:cViewPr varScale="1">
        <p:scale>
          <a:sx n="59" d="100"/>
          <a:sy n="59" d="100"/>
        </p:scale>
        <p:origin x="936"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customschemas.google.com/relationships/presentationmetadata" Target="meta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56414" cy="465455"/>
          </a:xfrm>
          <a:prstGeom prst="rect">
            <a:avLst/>
          </a:prstGeom>
          <a:noFill/>
          <a:ln>
            <a:noFill/>
          </a:ln>
        </p:spPr>
        <p:txBody>
          <a:bodyPr spcFirstLastPara="1" wrap="square" lIns="93475" tIns="46725" rIns="93475" bIns="467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95217" y="0"/>
            <a:ext cx="3056414" cy="465455"/>
          </a:xfrm>
          <a:prstGeom prst="rect">
            <a:avLst/>
          </a:prstGeom>
          <a:noFill/>
          <a:ln>
            <a:noFill/>
          </a:ln>
        </p:spPr>
        <p:txBody>
          <a:bodyPr spcFirstLastPara="1" wrap="square" lIns="93475" tIns="46725" rIns="93475" bIns="467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705327" y="4421823"/>
            <a:ext cx="5642610" cy="4189095"/>
          </a:xfrm>
          <a:prstGeom prst="rect">
            <a:avLst/>
          </a:prstGeom>
          <a:noFill/>
          <a:ln>
            <a:noFill/>
          </a:ln>
        </p:spPr>
        <p:txBody>
          <a:bodyPr spcFirstLastPara="1" wrap="square" lIns="93475" tIns="46725" rIns="93475" bIns="46725"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42029"/>
            <a:ext cx="3056414" cy="465455"/>
          </a:xfrm>
          <a:prstGeom prst="rect">
            <a:avLst/>
          </a:prstGeom>
          <a:noFill/>
          <a:ln>
            <a:noFill/>
          </a:ln>
        </p:spPr>
        <p:txBody>
          <a:bodyPr spcFirstLastPara="1" wrap="square" lIns="93475" tIns="46725" rIns="93475" bIns="467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95217" y="8842029"/>
            <a:ext cx="3056414" cy="465455"/>
          </a:xfrm>
          <a:prstGeom prst="rect">
            <a:avLst/>
          </a:prstGeom>
          <a:noFill/>
          <a:ln>
            <a:noFill/>
          </a:ln>
        </p:spPr>
        <p:txBody>
          <a:bodyPr spcFirstLastPara="1" wrap="square" lIns="93475" tIns="46725" rIns="93475" bIns="4672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08C38ED9-F2D0-FC1F-B349-42EB465C2237}"/>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75263344-6E45-1F1E-C6CF-BD2D44275211}"/>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B971EE38-26AA-EF62-DC97-7FE3B83F82A3}"/>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14384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9:notes"/>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8967230-3A72-8BAD-A166-9878F142A201}"/>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78FA00CA-7972-231A-1DE8-35873C838295}"/>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dirty="0"/>
          </a:p>
        </p:txBody>
      </p:sp>
      <p:sp>
        <p:nvSpPr>
          <p:cNvPr id="133" name="Google Shape;133;p9:notes">
            <a:extLst>
              <a:ext uri="{FF2B5EF4-FFF2-40B4-BE49-F238E27FC236}">
                <a16:creationId xmlns:a16="http://schemas.microsoft.com/office/drawing/2014/main" id="{57526B7F-947E-C9DF-D597-692B1BB1C2DE}"/>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788534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E5136A3-C93C-270B-7416-EC90B40EF6A7}"/>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5A452FAC-72E1-4C85-895E-8E689580608B}"/>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8C9910EE-CEE1-6A9E-68EF-8C6CAC81250C}"/>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21805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CB84B50-5749-C8F8-6882-02CDE0F0DAE2}"/>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128697E2-4FEC-46F9-5433-9D8EEA0ACF73}"/>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DE96131B-8E5C-CB6D-7BDB-1B16686BF8CD}"/>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94912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E0A8628A-B848-E289-3594-F27735B0401F}"/>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3A3BC96F-0116-2F4C-3F5F-6BC7EC1C3143}"/>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4D1B0D8D-21EA-43BE-3DA9-532F2263867A}"/>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72830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EA7DA22D-1534-D953-FF5B-79F2EFA3EC9B}"/>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22BE8D01-F798-E680-6653-750BB92D55D0}"/>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8FC1FED9-27DA-84DB-BF6F-85685BECB211}"/>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6790931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906242F8-2F21-8680-79D2-551ABDF37DDE}"/>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A6848006-1069-C4CF-62ED-EB063EE0EB95}"/>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EF1FA7D4-41C0-EB71-98ED-28F5996600E6}"/>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558897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A9CBBF1-A424-A15F-5F97-126563CBD2A7}"/>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04ECFEF7-65FF-5659-3F01-E26211FA227D}"/>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FC32F253-EA6C-2E0A-C672-BE3718172AB9}"/>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685034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A8E9639-DB82-9384-8D2A-4351665E2C6F}"/>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CBE5551F-357D-553D-676B-7B9502139D06}"/>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01944D20-4D0A-1C9F-F832-DA12C39E656B}"/>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943953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F4CA4B7-946F-D79F-7380-961778EE7A22}"/>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98901BA6-0CF1-EE8E-EFD3-1D76D07737FC}"/>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847310FB-B3ED-F06C-E9AF-DF72A0B2CCA0}"/>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18396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1F05FBF-9DDC-E936-FB1C-9B94CEAFB11A}"/>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9E9B010D-BF20-F8FD-75B8-1DDA9579FAF6}"/>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8E67EC1B-638F-B8A2-8482-44B36CB7737D}"/>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15213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28CCF97-1C58-74AF-FA50-2BC5BC6FF400}"/>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BEC19397-EBBD-A5B5-AD23-353363B4C3B6}"/>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63946C33-C6B2-6904-B181-5B40C32FE3AC}"/>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33427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E8A99633-82C9-4D25-3730-227D20F1C33E}"/>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BBAAE97A-8A45-D26A-5EAE-D411A7C5A1B9}"/>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C7F50ED7-D5C2-8D7C-F72E-DC07A29F7ED2}"/>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44993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C76D72E8-75C8-584E-A00A-FBDDE0410480}"/>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1185AD56-4C26-542D-FE2A-0FE0FAF009E6}"/>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C1E3856F-A8D9-4DD2-EA02-5B252CDFD23E}"/>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473350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801715EA-7373-7C9B-7CBB-A9278CB65652}"/>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C08343B8-254E-441C-E80B-184F421B4A48}"/>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69A0FD4B-738A-E713-A756-28F5C49B7BB4}"/>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34124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51379D38-6ADC-AE9A-D432-D0BC2C18EA8A}"/>
            </a:ext>
          </a:extLst>
        </p:cNvPr>
        <p:cNvGrpSpPr/>
        <p:nvPr/>
      </p:nvGrpSpPr>
      <p:grpSpPr>
        <a:xfrm>
          <a:off x="0" y="0"/>
          <a:ext cx="0" cy="0"/>
          <a:chOff x="0" y="0"/>
          <a:chExt cx="0" cy="0"/>
        </a:xfrm>
      </p:grpSpPr>
      <p:sp>
        <p:nvSpPr>
          <p:cNvPr id="132" name="Google Shape;132;p9:notes">
            <a:extLst>
              <a:ext uri="{FF2B5EF4-FFF2-40B4-BE49-F238E27FC236}">
                <a16:creationId xmlns:a16="http://schemas.microsoft.com/office/drawing/2014/main" id="{F410C007-68E6-6B28-1C15-69E18DE6EF94}"/>
              </a:ext>
            </a:extLst>
          </p:cNvPr>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133" name="Google Shape;133;p9:notes">
            <a:extLst>
              <a:ext uri="{FF2B5EF4-FFF2-40B4-BE49-F238E27FC236}">
                <a16:creationId xmlns:a16="http://schemas.microsoft.com/office/drawing/2014/main" id="{335F3D27-6DC7-2C74-BB21-A6C251C78882}"/>
              </a:ext>
            </a:extLst>
          </p:cNvPr>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78693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31:notes"/>
          <p:cNvSpPr txBox="1">
            <a:spLocks noGrp="1"/>
          </p:cNvSpPr>
          <p:nvPr>
            <p:ph type="body" idx="1"/>
          </p:nvPr>
        </p:nvSpPr>
        <p:spPr>
          <a:xfrm>
            <a:off x="705327" y="4421823"/>
            <a:ext cx="5642610" cy="4189095"/>
          </a:xfrm>
          <a:prstGeom prst="rect">
            <a:avLst/>
          </a:prstGeom>
        </p:spPr>
        <p:txBody>
          <a:bodyPr spcFirstLastPara="1" wrap="square" lIns="93475" tIns="46725" rIns="93475" bIns="46725" anchor="t" anchorCtr="0">
            <a:noAutofit/>
          </a:bodyPr>
          <a:lstStyle/>
          <a:p>
            <a:pPr marL="0" lvl="0" indent="0" algn="l" rtl="0">
              <a:spcBef>
                <a:spcPts val="0"/>
              </a:spcBef>
              <a:spcAft>
                <a:spcPts val="0"/>
              </a:spcAft>
              <a:buNone/>
            </a:pPr>
            <a:endParaRPr/>
          </a:p>
        </p:txBody>
      </p:sp>
      <p:sp>
        <p:nvSpPr>
          <p:cNvPr id="298" name="Google Shape;298;p31:notes"/>
          <p:cNvSpPr>
            <a:spLocks noGrp="1" noRot="1" noChangeAspect="1"/>
          </p:cNvSpPr>
          <p:nvPr>
            <p:ph type="sldImg" idx="2"/>
          </p:nvPr>
        </p:nvSpPr>
        <p:spPr>
          <a:xfrm>
            <a:off x="425450" y="698500"/>
            <a:ext cx="6203950" cy="3490913"/>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3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2"/>
        <p:cNvGrpSpPr/>
        <p:nvPr/>
      </p:nvGrpSpPr>
      <p:grpSpPr>
        <a:xfrm>
          <a:off x="0" y="0"/>
          <a:ext cx="0" cy="0"/>
          <a:chOff x="0" y="0"/>
          <a:chExt cx="0" cy="0"/>
        </a:xfrm>
      </p:grpSpPr>
      <p:sp>
        <p:nvSpPr>
          <p:cNvPr id="33" name="Google Shape;33;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3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1" name="Google Shape;4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3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3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3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3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3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3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9"/>
        <p:cNvGrpSpPr/>
        <p:nvPr/>
      </p:nvGrpSpPr>
      <p:grpSpPr>
        <a:xfrm>
          <a:off x="0" y="0"/>
          <a:ext cx="0" cy="0"/>
          <a:chOff x="0" y="0"/>
          <a:chExt cx="0" cy="0"/>
        </a:xfrm>
      </p:grpSpPr>
      <p:sp>
        <p:nvSpPr>
          <p:cNvPr id="70" name="Google Shape;70;p4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4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4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4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41"/>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9" name="Google Shape;79;p4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0" name="Google Shape;80;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4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4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4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
          <p:cNvSpPr txBox="1">
            <a:spLocks noGrp="1"/>
          </p:cNvSpPr>
          <p:nvPr>
            <p:ph type="body" idx="1"/>
          </p:nvPr>
        </p:nvSpPr>
        <p:spPr>
          <a:xfrm>
            <a:off x="609600" y="1600203"/>
            <a:ext cx="109728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entury Gothic"/>
                <a:ea typeface="Century Gothic"/>
                <a:cs typeface="Century Gothic"/>
                <a:sym typeface="Century Gothic"/>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9pPr>
          </a:lstStyle>
          <a:p>
            <a:endParaRPr/>
          </a:p>
        </p:txBody>
      </p:sp>
      <p:sp>
        <p:nvSpPr>
          <p:cNvPr id="12" name="Google Shape;12;p5"/>
          <p:cNvSpPr txBox="1">
            <a:spLocks noGrp="1"/>
          </p:cNvSpPr>
          <p:nvPr>
            <p:ph type="dt" idx="10"/>
          </p:nvPr>
        </p:nvSpPr>
        <p:spPr>
          <a:xfrm>
            <a:off x="609600" y="6356353"/>
            <a:ext cx="284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3" name="Google Shape;13;p5"/>
          <p:cNvSpPr txBox="1">
            <a:spLocks noGrp="1"/>
          </p:cNvSpPr>
          <p:nvPr>
            <p:ph type="ftr" idx="11"/>
          </p:nvPr>
        </p:nvSpPr>
        <p:spPr>
          <a:xfrm>
            <a:off x="4165600" y="6356353"/>
            <a:ext cx="3860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14" name="Google Shape;14;p5"/>
          <p:cNvSpPr txBox="1">
            <a:spLocks noGrp="1"/>
          </p:cNvSpPr>
          <p:nvPr>
            <p:ph type="sldNum" idx="12"/>
          </p:nvPr>
        </p:nvSpPr>
        <p:spPr>
          <a:xfrm>
            <a:off x="8737600" y="6356353"/>
            <a:ext cx="28448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pic>
        <p:nvPicPr>
          <p:cNvPr id="15" name="Google Shape;15;p5" descr="C:\Users\kushadhar.suvarna\Desktop\NMIMS PPT\PPT format Uni&amp;College-17.jp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 name="Google Shape;16;p5"/>
          <p:cNvPicPr preferRelativeResize="0"/>
          <p:nvPr/>
        </p:nvPicPr>
        <p:blipFill rotWithShape="1">
          <a:blip r:embed="rId4">
            <a:alphaModFix/>
          </a:blip>
          <a:srcRect l="42706" t="40068" r="5529" b="25769"/>
          <a:stretch/>
        </p:blipFill>
        <p:spPr>
          <a:xfrm>
            <a:off x="2400885" y="440479"/>
            <a:ext cx="2365211" cy="433768"/>
          </a:xfrm>
          <a:prstGeom prst="rect">
            <a:avLst/>
          </a:prstGeom>
          <a:noFill/>
          <a:ln>
            <a:noFill/>
          </a:ln>
        </p:spPr>
      </p:pic>
      <p:pic>
        <p:nvPicPr>
          <p:cNvPr id="17" name="Google Shape;17;p5"/>
          <p:cNvPicPr preferRelativeResize="0"/>
          <p:nvPr/>
        </p:nvPicPr>
        <p:blipFill rotWithShape="1">
          <a:blip r:embed="rId5">
            <a:alphaModFix/>
          </a:blip>
          <a:srcRect/>
          <a:stretch/>
        </p:blipFill>
        <p:spPr>
          <a:xfrm>
            <a:off x="-175628" y="171588"/>
            <a:ext cx="5153025" cy="971550"/>
          </a:xfrm>
          <a:prstGeom prst="roundRect">
            <a:avLst>
              <a:gd name="adj" fmla="val 16667"/>
            </a:avLst>
          </a:prstGeom>
          <a:noFill/>
          <a:ln>
            <a:noFill/>
          </a:ln>
          <a:effectLst>
            <a:outerShdw blurRad="76200" dist="38100" dir="7800000" algn="tl" rotWithShape="0">
              <a:srgbClr val="000000">
                <a:alpha val="40000"/>
              </a:srgbClr>
            </a:outerShdw>
          </a:effectLst>
        </p:spPr>
      </p:pic>
      <p:pic>
        <p:nvPicPr>
          <p:cNvPr id="18" name="Google Shape;18;p5"/>
          <p:cNvPicPr preferRelativeResize="0"/>
          <p:nvPr/>
        </p:nvPicPr>
        <p:blipFill rotWithShape="1">
          <a:blip r:embed="rId6">
            <a:alphaModFix/>
          </a:blip>
          <a:srcRect l="36355" t="33190" r="4569" b="31651"/>
          <a:stretch/>
        </p:blipFill>
        <p:spPr>
          <a:xfrm>
            <a:off x="1727467" y="409868"/>
            <a:ext cx="3211830" cy="49498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Lst>
  <p:transition spd="slow">
    <p:wip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
        <p:cNvGrpSpPr/>
        <p:nvPr/>
      </p:nvGrpSpPr>
      <p:grpSpPr>
        <a:xfrm>
          <a:off x="0" y="0"/>
          <a:ext cx="0" cy="0"/>
          <a:chOff x="0" y="0"/>
          <a:chExt cx="0" cy="0"/>
        </a:xfrm>
      </p:grpSpPr>
      <p:sp>
        <p:nvSpPr>
          <p:cNvPr id="21" name="Google Shape;21;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4" name="Google Shape;24;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5" name="Google Shape;25;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ransition spd="slow">
    <p:wip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grpSp>
        <p:nvGrpSpPr>
          <p:cNvPr id="99" name="Google Shape;99;p3"/>
          <p:cNvGrpSpPr/>
          <p:nvPr/>
        </p:nvGrpSpPr>
        <p:grpSpPr>
          <a:xfrm>
            <a:off x="402566" y="2483304"/>
            <a:ext cx="11323604" cy="1674133"/>
            <a:chOff x="522061" y="1950868"/>
            <a:chExt cx="10560050" cy="1674133"/>
          </a:xfrm>
        </p:grpSpPr>
        <p:sp>
          <p:nvSpPr>
            <p:cNvPr id="100" name="Google Shape;100;p3"/>
            <p:cNvSpPr txBox="1"/>
            <p:nvPr/>
          </p:nvSpPr>
          <p:spPr>
            <a:xfrm>
              <a:off x="522061" y="1950868"/>
              <a:ext cx="10560050" cy="1454808"/>
            </a:xfrm>
            <a:prstGeom prst="rect">
              <a:avLst/>
            </a:prstGeom>
            <a:noFill/>
            <a:ln>
              <a:noFill/>
            </a:ln>
          </p:spPr>
          <p:txBody>
            <a:bodyPr spcFirstLastPara="1" wrap="square" lIns="91425" tIns="45700" rIns="91425" bIns="45700" anchor="t" anchorCtr="0">
              <a:noAutofit/>
            </a:bodyPr>
            <a:lstStyle/>
            <a:p>
              <a:pPr algn="ctr"/>
              <a:r>
                <a:rPr lang="en-GB" sz="3000" b="1" dirty="0">
                  <a:latin typeface="Times New Roman" panose="02020603050405020304" pitchFamily="18" charset="0"/>
                  <a:cs typeface="Times New Roman" panose="02020603050405020304" pitchFamily="18" charset="0"/>
                </a:rPr>
                <a:t>Forecasting Trends in Pharmaceutical and Antidepressant Markets: </a:t>
              </a:r>
              <a:r>
                <a:rPr lang="en-GB" sz="3000" dirty="0">
                  <a:latin typeface="Times New Roman" panose="02020603050405020304" pitchFamily="18" charset="0"/>
                  <a:cs typeface="Times New Roman" panose="02020603050405020304" pitchFamily="18" charset="0"/>
                </a:rPr>
                <a:t>A Comprehensive Time Series Approach</a:t>
              </a:r>
            </a:p>
          </p:txBody>
        </p:sp>
        <p:sp>
          <p:nvSpPr>
            <p:cNvPr id="101" name="Google Shape;101;p3"/>
            <p:cNvSpPr txBox="1"/>
            <p:nvPr/>
          </p:nvSpPr>
          <p:spPr>
            <a:xfrm>
              <a:off x="3534390" y="3214078"/>
              <a:ext cx="4535391" cy="41092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IN" sz="2400" b="1" i="1" u="none" strike="noStrike" cap="none" dirty="0">
                  <a:solidFill>
                    <a:srgbClr val="000000"/>
                  </a:solidFill>
                  <a:latin typeface="Times New Roman"/>
                  <a:ea typeface="Times New Roman"/>
                  <a:cs typeface="Times New Roman"/>
                  <a:sym typeface="Times New Roman"/>
                </a:rPr>
                <a:t>B.Sc. (Applied Statistics &amp; Analytics)</a:t>
              </a:r>
              <a:endParaRPr sz="2400" b="1" i="1" u="none" strike="noStrike" cap="none" dirty="0">
                <a:solidFill>
                  <a:srgbClr val="000000"/>
                </a:solidFill>
                <a:latin typeface="Times New Roman"/>
                <a:ea typeface="Times New Roman"/>
                <a:cs typeface="Times New Roman"/>
                <a:sym typeface="Times New Roman"/>
              </a:endParaRPr>
            </a:p>
          </p:txBody>
        </p:sp>
      </p:grpSp>
      <p:sp>
        <p:nvSpPr>
          <p:cNvPr id="102" name="Google Shape;102;p3"/>
          <p:cNvSpPr txBox="1"/>
          <p:nvPr/>
        </p:nvSpPr>
        <p:spPr>
          <a:xfrm>
            <a:off x="8751218" y="5066778"/>
            <a:ext cx="3063712" cy="1477287"/>
          </a:xfrm>
          <a:prstGeom prst="rect">
            <a:avLst/>
          </a:prstGeom>
          <a:noFill/>
          <a:ln>
            <a:noFill/>
          </a:ln>
        </p:spPr>
        <p:txBody>
          <a:bodyPr spcFirstLastPara="1" wrap="square" lIns="91425" tIns="45700" rIns="91425" bIns="45700" anchor="t" anchorCtr="0">
            <a:spAutoFit/>
          </a:bodyPr>
          <a:lstStyle/>
          <a:p>
            <a:pPr lvl="0" algn="just"/>
            <a:r>
              <a:rPr lang="en-IN" sz="1800" dirty="0">
                <a:latin typeface="Times New Roman"/>
                <a:ea typeface="Times New Roman"/>
                <a:cs typeface="Times New Roman"/>
                <a:sym typeface="Times New Roman"/>
              </a:rPr>
              <a:t>Kewyn Abraham – A004</a:t>
            </a:r>
            <a:endParaRPr lang="en-IN" sz="1800" dirty="0"/>
          </a:p>
          <a:p>
            <a:pPr lvl="0" algn="just"/>
            <a:r>
              <a:rPr lang="en-IN" sz="1800" dirty="0">
                <a:latin typeface="Times New Roman"/>
                <a:ea typeface="Times New Roman"/>
                <a:cs typeface="Times New Roman"/>
                <a:sym typeface="Times New Roman"/>
              </a:rPr>
              <a:t>Dhruhee Shinde – A021</a:t>
            </a:r>
            <a:endParaRPr lang="en-IN" sz="1800" dirty="0"/>
          </a:p>
          <a:p>
            <a:pPr marL="0" marR="0" lvl="0" indent="0" algn="just" rtl="0">
              <a:lnSpc>
                <a:spcPct val="100000"/>
              </a:lnSpc>
              <a:spcBef>
                <a:spcPts val="0"/>
              </a:spcBef>
              <a:spcAft>
                <a:spcPts val="0"/>
              </a:spcAft>
              <a:buNone/>
            </a:pPr>
            <a:r>
              <a:rPr lang="en-IN" sz="1800" b="0" i="0" u="none" strike="noStrike" cap="none" dirty="0">
                <a:solidFill>
                  <a:srgbClr val="000000"/>
                </a:solidFill>
                <a:latin typeface="Times New Roman"/>
                <a:ea typeface="Times New Roman"/>
                <a:cs typeface="Times New Roman"/>
                <a:sym typeface="Times New Roman"/>
              </a:rPr>
              <a:t>Sameer Bhavnani – A024</a:t>
            </a:r>
            <a:endParaRPr sz="1800" dirty="0"/>
          </a:p>
          <a:p>
            <a:pPr marL="0" marR="0" lvl="0" indent="0" algn="just" rtl="0">
              <a:lnSpc>
                <a:spcPct val="100000"/>
              </a:lnSpc>
              <a:spcBef>
                <a:spcPts val="0"/>
              </a:spcBef>
              <a:spcAft>
                <a:spcPts val="0"/>
              </a:spcAft>
              <a:buNone/>
            </a:pPr>
            <a:r>
              <a:rPr lang="en-IN" sz="1800" b="0" i="0" u="none" strike="noStrike" cap="none" dirty="0">
                <a:solidFill>
                  <a:srgbClr val="000000"/>
                </a:solidFill>
                <a:latin typeface="Times New Roman"/>
                <a:ea typeface="Times New Roman"/>
                <a:cs typeface="Times New Roman"/>
                <a:sym typeface="Times New Roman"/>
              </a:rPr>
              <a:t>Khushi Sahni – A040</a:t>
            </a:r>
          </a:p>
          <a:p>
            <a:pPr lvl="0" algn="just"/>
            <a:r>
              <a:rPr lang="en-IN" sz="1800" dirty="0">
                <a:latin typeface="Times New Roman"/>
                <a:cs typeface="Times New Roman"/>
                <a:sym typeface="Times New Roman"/>
              </a:rPr>
              <a:t>Arrjun Aakash P </a:t>
            </a:r>
            <a:r>
              <a:rPr lang="en-IN" sz="1800" dirty="0">
                <a:latin typeface="Times New Roman"/>
                <a:ea typeface="Times New Roman"/>
                <a:cs typeface="Times New Roman"/>
                <a:sym typeface="Times New Roman"/>
              </a:rPr>
              <a:t>– A042</a:t>
            </a:r>
            <a:endParaRPr sz="1800" dirty="0"/>
          </a:p>
        </p:txBody>
      </p:sp>
      <p:sp>
        <p:nvSpPr>
          <p:cNvPr id="103" name="Google Shape;103;p3"/>
          <p:cNvSpPr txBox="1"/>
          <p:nvPr/>
        </p:nvSpPr>
        <p:spPr>
          <a:xfrm>
            <a:off x="8751218" y="4758684"/>
            <a:ext cx="296944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2000" b="1" i="0" u="none" strike="noStrike" cap="none" dirty="0">
                <a:solidFill>
                  <a:srgbClr val="000000"/>
                </a:solidFill>
                <a:latin typeface="Times New Roman"/>
                <a:ea typeface="Times New Roman"/>
                <a:cs typeface="Times New Roman"/>
                <a:sym typeface="Times New Roman"/>
              </a:rPr>
              <a:t>Group Members : </a:t>
            </a:r>
            <a:endParaRPr sz="2000" b="1" i="0" u="none" strike="noStrike" cap="none" dirty="0">
              <a:solidFill>
                <a:srgbClr val="000000"/>
              </a:solidFill>
              <a:latin typeface="Times New Roman"/>
              <a:ea typeface="Times New Roman"/>
              <a:cs typeface="Times New Roman"/>
              <a:sym typeface="Times New Roman"/>
            </a:endParaRPr>
          </a:p>
        </p:txBody>
      </p:sp>
      <p:sp>
        <p:nvSpPr>
          <p:cNvPr id="104" name="Google Shape;104;p3"/>
          <p:cNvSpPr txBox="1"/>
          <p:nvPr/>
        </p:nvSpPr>
        <p:spPr>
          <a:xfrm>
            <a:off x="377070" y="5805421"/>
            <a:ext cx="3560863" cy="67706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None/>
            </a:pPr>
            <a:r>
              <a:rPr lang="en-IN" sz="2000" b="1" i="0" u="none" strike="noStrike" cap="none" dirty="0">
                <a:solidFill>
                  <a:schemeClr val="dk1"/>
                </a:solidFill>
                <a:latin typeface="Times New Roman"/>
                <a:ea typeface="Times New Roman"/>
                <a:cs typeface="Times New Roman"/>
                <a:sym typeface="Times New Roman"/>
              </a:rPr>
              <a:t>Mentor</a:t>
            </a:r>
            <a:r>
              <a:rPr lang="en-IN" sz="1800" b="1" i="0" u="none" strike="noStrike" cap="none" dirty="0">
                <a:solidFill>
                  <a:schemeClr val="dk1"/>
                </a:solidFill>
                <a:latin typeface="Times New Roman"/>
                <a:ea typeface="Times New Roman"/>
                <a:cs typeface="Times New Roman"/>
                <a:sym typeface="Times New Roman"/>
              </a:rPr>
              <a:t>:</a:t>
            </a:r>
            <a:endParaRPr dirty="0"/>
          </a:p>
          <a:p>
            <a:pPr marL="0" marR="0" lvl="0" indent="0" algn="just" rtl="0">
              <a:lnSpc>
                <a:spcPct val="100000"/>
              </a:lnSpc>
              <a:spcBef>
                <a:spcPts val="0"/>
              </a:spcBef>
              <a:spcAft>
                <a:spcPts val="0"/>
              </a:spcAft>
              <a:buNone/>
            </a:pPr>
            <a:r>
              <a:rPr lang="en-IN" sz="1800" b="1" dirty="0">
                <a:solidFill>
                  <a:schemeClr val="dk1"/>
                </a:solidFill>
                <a:latin typeface="Times New Roman"/>
                <a:cs typeface="Times New Roman"/>
                <a:sym typeface="Times New Roman"/>
              </a:rPr>
              <a:t>Prof. Vaibhav Vasundekar</a:t>
            </a:r>
            <a:endParaRPr dirty="0"/>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oogle Shape;38;g195da297051_0_29">
            <a:extLst>
              <a:ext uri="{FF2B5EF4-FFF2-40B4-BE49-F238E27FC236}">
                <a16:creationId xmlns:a16="http://schemas.microsoft.com/office/drawing/2014/main" id="{552D31BC-E070-F7D7-8663-BE97BD3E22E3}"/>
              </a:ext>
            </a:extLst>
          </p:cNvPr>
          <p:cNvGraphicFramePr/>
          <p:nvPr>
            <p:extLst>
              <p:ext uri="{D42A27DB-BD31-4B8C-83A1-F6EECF244321}">
                <p14:modId xmlns:p14="http://schemas.microsoft.com/office/powerpoint/2010/main" val="2872211336"/>
              </p:ext>
            </p:extLst>
          </p:nvPr>
        </p:nvGraphicFramePr>
        <p:xfrm>
          <a:off x="285383" y="2103827"/>
          <a:ext cx="11621234" cy="3754940"/>
        </p:xfrm>
        <a:graphic>
          <a:graphicData uri="http://schemas.openxmlformats.org/drawingml/2006/table">
            <a:tbl>
              <a:tblPr>
                <a:noFill/>
              </a:tblPr>
              <a:tblGrid>
                <a:gridCol w="926533">
                  <a:extLst>
                    <a:ext uri="{9D8B030D-6E8A-4147-A177-3AD203B41FA5}">
                      <a16:colId xmlns:a16="http://schemas.microsoft.com/office/drawing/2014/main" val="20000"/>
                    </a:ext>
                  </a:extLst>
                </a:gridCol>
                <a:gridCol w="4873162">
                  <a:extLst>
                    <a:ext uri="{9D8B030D-6E8A-4147-A177-3AD203B41FA5}">
                      <a16:colId xmlns:a16="http://schemas.microsoft.com/office/drawing/2014/main" val="20001"/>
                    </a:ext>
                  </a:extLst>
                </a:gridCol>
                <a:gridCol w="1187622">
                  <a:extLst>
                    <a:ext uri="{9D8B030D-6E8A-4147-A177-3AD203B41FA5}">
                      <a16:colId xmlns:a16="http://schemas.microsoft.com/office/drawing/2014/main" val="3941244547"/>
                    </a:ext>
                  </a:extLst>
                </a:gridCol>
                <a:gridCol w="4633917">
                  <a:extLst>
                    <a:ext uri="{9D8B030D-6E8A-4147-A177-3AD203B41FA5}">
                      <a16:colId xmlns:a16="http://schemas.microsoft.com/office/drawing/2014/main" val="20002"/>
                    </a:ext>
                  </a:extLst>
                </a:gridCol>
              </a:tblGrid>
              <a:tr h="33589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2000" b="1" dirty="0">
                          <a:solidFill>
                            <a:schemeClr val="tx1"/>
                          </a:solidFill>
                          <a:latin typeface="Times New Roman"/>
                          <a:ea typeface="Times New Roman"/>
                          <a:cs typeface="Times New Roman"/>
                          <a:sym typeface="Times New Roman"/>
                        </a:rPr>
                        <a:t>Sr No. </a:t>
                      </a:r>
                    </a:p>
                  </a:txBody>
                  <a:tcPr marL="91425" marR="91425" marT="91425" marB="91425" anchor="ctr">
                    <a:lnL w="3175"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lvl="0" indent="0" algn="ctr" rtl="0">
                        <a:spcBef>
                          <a:spcPts val="0"/>
                        </a:spcBef>
                        <a:spcAft>
                          <a:spcPts val="0"/>
                        </a:spcAft>
                        <a:buNone/>
                      </a:pPr>
                      <a:r>
                        <a:rPr lang="en-IN" sz="2000" b="1" i="0" u="none" strike="noStrike" cap="none" dirty="0">
                          <a:solidFill>
                            <a:schemeClr val="tx1"/>
                          </a:solidFill>
                          <a:latin typeface="Times New Roman"/>
                          <a:ea typeface="Times New Roman"/>
                          <a:cs typeface="Times New Roman"/>
                          <a:sym typeface="Times New Roman"/>
                        </a:rPr>
                        <a:t>TOPICS</a:t>
                      </a:r>
                      <a:endParaRPr sz="2000" b="1" i="0" u="none" strike="noStrike" cap="none" dirty="0">
                        <a:solidFill>
                          <a:schemeClr val="tx1"/>
                        </a:solidFill>
                        <a:latin typeface="Times New Roman"/>
                        <a:ea typeface="Times New Roman"/>
                        <a:cs typeface="Times New Roman"/>
                        <a:sym typeface="Times New Roman"/>
                      </a:endParaRPr>
                    </a:p>
                  </a:txBody>
                  <a:tcPr marL="91425" marR="91425" marT="91425" marB="91425"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lvl="0" indent="0" algn="ctr" rtl="0">
                        <a:spcBef>
                          <a:spcPts val="0"/>
                        </a:spcBef>
                        <a:spcAft>
                          <a:spcPts val="0"/>
                        </a:spcAft>
                        <a:buNone/>
                      </a:pPr>
                      <a:r>
                        <a:rPr lang="en-IN" sz="2000" b="1" dirty="0">
                          <a:solidFill>
                            <a:schemeClr val="tx1"/>
                          </a:solidFill>
                          <a:latin typeface="Times New Roman"/>
                          <a:ea typeface="Times New Roman"/>
                          <a:cs typeface="Times New Roman"/>
                          <a:sym typeface="Times New Roman"/>
                        </a:rPr>
                        <a:t>Sr No.</a:t>
                      </a:r>
                      <a:endParaRPr sz="2000" b="1" dirty="0">
                        <a:solidFill>
                          <a:schemeClr val="tx1"/>
                        </a:solidFill>
                        <a:latin typeface="Times New Roman"/>
                        <a:ea typeface="Times New Roman"/>
                        <a:cs typeface="Times New Roman"/>
                        <a:sym typeface="Times New Roman"/>
                      </a:endParaRPr>
                    </a:p>
                  </a:txBody>
                  <a:tcPr marL="91425" marR="91425" marT="91425" marB="91425"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lvl="0" indent="0" algn="ctr" rtl="0">
                        <a:spcBef>
                          <a:spcPts val="0"/>
                        </a:spcBef>
                        <a:spcAft>
                          <a:spcPts val="0"/>
                        </a:spcAft>
                        <a:buNone/>
                      </a:pPr>
                      <a:r>
                        <a:rPr lang="en-IN" sz="2000" b="1" dirty="0">
                          <a:solidFill>
                            <a:schemeClr val="tx1"/>
                          </a:solidFill>
                          <a:latin typeface="Times New Roman"/>
                          <a:ea typeface="Times New Roman"/>
                          <a:cs typeface="Times New Roman"/>
                          <a:sym typeface="Times New Roman"/>
                        </a:rPr>
                        <a:t> TOPICS</a:t>
                      </a:r>
                      <a:endParaRPr sz="2000" b="1" dirty="0">
                        <a:solidFill>
                          <a:schemeClr val="tx1"/>
                        </a:solidFill>
                        <a:latin typeface="Times New Roman"/>
                        <a:ea typeface="Times New Roman"/>
                        <a:cs typeface="Times New Roman"/>
                        <a:sym typeface="Times New Roman"/>
                      </a:endParaRPr>
                    </a:p>
                  </a:txBody>
                  <a:tcPr marL="91425" marR="91425" marT="91425" marB="91425"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0"/>
                  </a:ext>
                </a:extLst>
              </a:tr>
              <a:tr h="356884">
                <a:tc>
                  <a:txBody>
                    <a:bodyPr/>
                    <a:lstStyle/>
                    <a:p>
                      <a:pPr marL="0" lvl="0" indent="0" algn="ctr" rtl="0">
                        <a:spcBef>
                          <a:spcPts val="0"/>
                        </a:spcBef>
                        <a:spcAft>
                          <a:spcPts val="0"/>
                        </a:spcAft>
                        <a:buNone/>
                      </a:pPr>
                      <a:r>
                        <a:rPr lang="en-IN" sz="2000" b="1" dirty="0">
                          <a:solidFill>
                            <a:schemeClr val="tx1"/>
                          </a:solidFill>
                          <a:latin typeface="Times New Roman"/>
                          <a:ea typeface="Times New Roman"/>
                          <a:cs typeface="Times New Roman"/>
                          <a:sym typeface="Times New Roman"/>
                        </a:rPr>
                        <a:t>1</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381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en-IN" sz="2000" b="0" i="0" u="none" strike="noStrike" cap="none" dirty="0">
                          <a:solidFill>
                            <a:schemeClr val="tx1"/>
                          </a:solidFill>
                          <a:latin typeface="Times New Roman"/>
                          <a:ea typeface="Times New Roman"/>
                          <a:cs typeface="Times New Roman"/>
                          <a:sym typeface="Times New Roman"/>
                        </a:rPr>
                        <a:t>Introduction</a:t>
                      </a:r>
                      <a:endParaRPr sz="2000" b="0" i="0" u="none" strike="noStrike" cap="none"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381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IN" sz="2000" b="1" dirty="0">
                          <a:solidFill>
                            <a:schemeClr val="tx1"/>
                          </a:solidFill>
                          <a:latin typeface="Times New Roman"/>
                          <a:ea typeface="Times New Roman"/>
                          <a:cs typeface="Times New Roman"/>
                          <a:sym typeface="Times New Roman"/>
                        </a:rPr>
                        <a:t>7</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indent="0" algn="l" fontAlgn="base">
                        <a:lnSpc>
                          <a:spcPct val="100000"/>
                        </a:lnSpc>
                        <a:buFont typeface="Wingdings" panose="05000000000000000000" pitchFamily="2" charset="2"/>
                        <a:buNone/>
                      </a:pPr>
                      <a:r>
                        <a:rPr lang="en-GB" sz="2000" b="0" dirty="0">
                          <a:latin typeface="Times New Roman" panose="02020603050405020304" pitchFamily="18" charset="0"/>
                          <a:cs typeface="Times New Roman" panose="02020603050405020304" pitchFamily="18" charset="0"/>
                        </a:rPr>
                        <a:t>EDA and Trend Decomposition</a:t>
                      </a:r>
                      <a:endParaRPr lang="en-GB" sz="1800" b="0" dirty="0">
                        <a:latin typeface="Times New Roman" panose="02020603050405020304" pitchFamily="18" charset="0"/>
                        <a:cs typeface="Times New Roman" panose="02020603050405020304" pitchFamily="18" charset="0"/>
                      </a:endParaRPr>
                    </a:p>
                  </a:txBody>
                  <a:tcPr marL="91425" marR="91425" marT="91425" marB="91425"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56884">
                <a:tc>
                  <a:txBody>
                    <a:bodyPr/>
                    <a:lstStyle/>
                    <a:p>
                      <a:pPr marL="0" lvl="0" indent="0" algn="ctr" rtl="0">
                        <a:spcBef>
                          <a:spcPts val="0"/>
                        </a:spcBef>
                        <a:spcAft>
                          <a:spcPts val="0"/>
                        </a:spcAft>
                        <a:buNone/>
                      </a:pPr>
                      <a:r>
                        <a:rPr lang="en-IN" sz="2000" b="1" dirty="0">
                          <a:solidFill>
                            <a:schemeClr val="tx1"/>
                          </a:solidFill>
                          <a:latin typeface="Times New Roman"/>
                          <a:ea typeface="Times New Roman"/>
                          <a:cs typeface="Times New Roman"/>
                          <a:sym typeface="Times New Roman"/>
                        </a:rPr>
                        <a:t>2</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381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en-IN" sz="2000" b="0" dirty="0">
                          <a:solidFill>
                            <a:schemeClr val="tx1"/>
                          </a:solidFill>
                          <a:latin typeface="Times New Roman"/>
                          <a:ea typeface="Times New Roman"/>
                          <a:cs typeface="Times New Roman"/>
                          <a:sym typeface="Times New Roman"/>
                        </a:rPr>
                        <a:t>Objectives</a:t>
                      </a: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381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US" sz="2000" b="1" dirty="0">
                          <a:solidFill>
                            <a:schemeClr val="tx1"/>
                          </a:solidFill>
                          <a:latin typeface="Times New Roman"/>
                          <a:ea typeface="Times New Roman"/>
                          <a:cs typeface="Times New Roman"/>
                          <a:sym typeface="Times New Roman"/>
                        </a:rPr>
                        <a:t>8</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Font typeface="Arial"/>
                        <a:buNone/>
                      </a:pPr>
                      <a:r>
                        <a:rPr lang="en-GB" sz="2000" b="0" dirty="0">
                          <a:latin typeface="Times New Roman" panose="02020603050405020304" pitchFamily="18" charset="0"/>
                          <a:cs typeface="Times New Roman" panose="02020603050405020304" pitchFamily="18" charset="0"/>
                        </a:rPr>
                        <a:t>Model Comparison and Selection</a:t>
                      </a:r>
                      <a:endParaRPr lang="en-IN" sz="2000" b="0" i="0" u="none" strike="noStrike" cap="none" dirty="0">
                        <a:solidFill>
                          <a:schemeClr val="tx1"/>
                        </a:solidFill>
                        <a:latin typeface="Times New Roman"/>
                        <a:ea typeface="Times New Roman"/>
                        <a:cs typeface="Times New Roman"/>
                        <a:sym typeface="Times New Roman"/>
                      </a:endParaRPr>
                    </a:p>
                  </a:txBody>
                  <a:tcPr marL="91425" marR="91425" marT="91425" marB="91425"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43116364"/>
                  </a:ext>
                </a:extLst>
              </a:tr>
              <a:tr h="356884">
                <a:tc>
                  <a:txBody>
                    <a:bodyPr/>
                    <a:lstStyle/>
                    <a:p>
                      <a:pPr marL="0" lvl="0" indent="0" algn="ctr" rtl="0">
                        <a:spcBef>
                          <a:spcPts val="0"/>
                        </a:spcBef>
                        <a:spcAft>
                          <a:spcPts val="0"/>
                        </a:spcAft>
                        <a:buNone/>
                      </a:pPr>
                      <a:r>
                        <a:rPr lang="en-IN" sz="2000" b="1" dirty="0">
                          <a:solidFill>
                            <a:schemeClr val="tx1"/>
                          </a:solidFill>
                          <a:latin typeface="Times New Roman"/>
                          <a:ea typeface="Times New Roman"/>
                          <a:cs typeface="Times New Roman"/>
                          <a:sym typeface="Times New Roman"/>
                        </a:rPr>
                        <a:t>3</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l" rtl="0">
                        <a:spcBef>
                          <a:spcPts val="0"/>
                        </a:spcBef>
                        <a:spcAft>
                          <a:spcPts val="0"/>
                        </a:spcAft>
                        <a:buNone/>
                      </a:pPr>
                      <a:r>
                        <a:rPr lang="en-IN" sz="2000" b="0" dirty="0">
                          <a:solidFill>
                            <a:schemeClr val="tx1"/>
                          </a:solidFill>
                          <a:latin typeface="Times New Roman"/>
                          <a:ea typeface="Times New Roman"/>
                          <a:cs typeface="Times New Roman"/>
                          <a:sym typeface="Times New Roman"/>
                        </a:rPr>
                        <a:t>Key Terms</a:t>
                      </a:r>
                      <a:endParaRPr sz="2000" b="0"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US" sz="2000" b="1" dirty="0">
                          <a:solidFill>
                            <a:schemeClr val="tx1"/>
                          </a:solidFill>
                          <a:latin typeface="Times New Roman"/>
                          <a:ea typeface="Times New Roman"/>
                          <a:cs typeface="Times New Roman"/>
                          <a:sym typeface="Times New Roman"/>
                        </a:rPr>
                        <a:t>9</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38100" cap="flat" cmpd="sng" algn="ctr">
                      <a:no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rtl="0">
                        <a:lnSpc>
                          <a:spcPct val="100000"/>
                        </a:lnSpc>
                        <a:spcBef>
                          <a:spcPts val="0"/>
                        </a:spcBef>
                        <a:spcAft>
                          <a:spcPts val="0"/>
                        </a:spcAft>
                        <a:buClr>
                          <a:srgbClr val="000000"/>
                        </a:buClr>
                        <a:buFont typeface="Arial"/>
                        <a:buNone/>
                      </a:pPr>
                      <a:r>
                        <a:rPr lang="en-GB" sz="2000" b="0" dirty="0">
                          <a:latin typeface="Times New Roman" panose="02020603050405020304" pitchFamily="18" charset="0"/>
                          <a:cs typeface="Times New Roman" panose="02020603050405020304" pitchFamily="18" charset="0"/>
                        </a:rPr>
                        <a:t>Investigation and Limitation Assessment</a:t>
                      </a:r>
                      <a:endParaRPr sz="2000" b="0" i="0" u="none" strike="noStrike" cap="none" dirty="0">
                        <a:solidFill>
                          <a:schemeClr val="tx1"/>
                        </a:solidFill>
                        <a:latin typeface="Times New Roman"/>
                        <a:ea typeface="Times New Roman"/>
                        <a:cs typeface="Times New Roman"/>
                        <a:sym typeface="Times New Roman"/>
                      </a:endParaRPr>
                    </a:p>
                  </a:txBody>
                  <a:tcPr marL="91425" marR="91425" marT="91425" marB="91425"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97929">
                <a:tc>
                  <a:txBody>
                    <a:bodyPr/>
                    <a:lstStyle/>
                    <a:p>
                      <a:pPr marL="0" lvl="0" indent="0" algn="ctr" rtl="0">
                        <a:spcBef>
                          <a:spcPts val="0"/>
                        </a:spcBef>
                        <a:spcAft>
                          <a:spcPts val="0"/>
                        </a:spcAft>
                        <a:buNone/>
                      </a:pPr>
                      <a:r>
                        <a:rPr lang="en-IN" sz="2000" b="1" dirty="0">
                          <a:solidFill>
                            <a:schemeClr val="tx1"/>
                          </a:solidFill>
                          <a:latin typeface="Times New Roman"/>
                          <a:ea typeface="Times New Roman"/>
                          <a:cs typeface="Times New Roman"/>
                          <a:sym typeface="Times New Roman"/>
                        </a:rPr>
                        <a:t>4</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i="0" u="none" strike="noStrike" cap="none" dirty="0">
                          <a:solidFill>
                            <a:schemeClr val="tx1"/>
                          </a:solidFill>
                          <a:latin typeface="Times New Roman"/>
                          <a:ea typeface="Times New Roman"/>
                          <a:cs typeface="Times New Roman"/>
                          <a:sym typeface="Times New Roman"/>
                        </a:rPr>
                        <a:t>Literature Review</a:t>
                      </a: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US" sz="2000" b="1" dirty="0">
                          <a:solidFill>
                            <a:schemeClr val="tx1"/>
                          </a:solidFill>
                          <a:latin typeface="Times New Roman"/>
                          <a:ea typeface="Times New Roman"/>
                          <a:cs typeface="Times New Roman"/>
                          <a:sym typeface="Times New Roman"/>
                        </a:rPr>
                        <a:t>1</a:t>
                      </a:r>
                      <a:r>
                        <a:rPr lang="en-IN" sz="2000" b="1" dirty="0">
                          <a:solidFill>
                            <a:schemeClr val="tx1"/>
                          </a:solidFill>
                          <a:latin typeface="Times New Roman"/>
                          <a:ea typeface="Times New Roman"/>
                          <a:cs typeface="Times New Roman"/>
                          <a:sym typeface="Times New Roman"/>
                        </a:rPr>
                        <a:t>0</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38100" cap="flat" cmpd="sng" algn="ctr">
                      <a:no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l" rtl="0">
                        <a:lnSpc>
                          <a:spcPct val="100000"/>
                        </a:lnSpc>
                        <a:buNone/>
                      </a:pPr>
                      <a:r>
                        <a:rPr lang="en-GB" sz="2000" b="0" dirty="0">
                          <a:latin typeface="Times New Roman" panose="02020603050405020304" pitchFamily="18" charset="0"/>
                          <a:cs typeface="Times New Roman" panose="02020603050405020304" pitchFamily="18" charset="0"/>
                        </a:rPr>
                        <a:t>Exponential Smoothing Forecast </a:t>
                      </a:r>
                      <a:endParaRPr lang="en-IN" sz="2000" b="0" dirty="0">
                        <a:effectLst/>
                        <a:latin typeface="Times New Roman" panose="02020603050405020304" pitchFamily="18" charset="0"/>
                        <a:cs typeface="Times New Roman" panose="02020603050405020304" pitchFamily="18" charset="0"/>
                      </a:endParaRPr>
                    </a:p>
                  </a:txBody>
                  <a:tcPr marL="91425" marR="91425" marT="91425" marB="91425"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56884">
                <a:tc>
                  <a:txBody>
                    <a:bodyPr/>
                    <a:lstStyle/>
                    <a:p>
                      <a:pPr marL="0" lvl="0" indent="0" algn="ctr" rtl="0">
                        <a:spcBef>
                          <a:spcPts val="0"/>
                        </a:spcBef>
                        <a:spcAft>
                          <a:spcPts val="0"/>
                        </a:spcAft>
                        <a:buNone/>
                      </a:pPr>
                      <a:r>
                        <a:rPr lang="en-US" sz="2000" b="1" dirty="0">
                          <a:solidFill>
                            <a:schemeClr val="tx1"/>
                          </a:solidFill>
                          <a:latin typeface="Times New Roman"/>
                          <a:ea typeface="Times New Roman"/>
                          <a:cs typeface="Times New Roman"/>
                          <a:sym typeface="Times New Roman"/>
                        </a:rPr>
                        <a:t>5</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000" b="0" dirty="0">
                          <a:solidFill>
                            <a:schemeClr val="tx1"/>
                          </a:solidFill>
                          <a:latin typeface="Times New Roman"/>
                          <a:ea typeface="Times New Roman"/>
                          <a:cs typeface="Times New Roman"/>
                          <a:sym typeface="Times New Roman"/>
                        </a:rPr>
                        <a:t>Formulae</a:t>
                      </a:r>
                      <a:endParaRPr lang="en-US" sz="2000" b="0" i="0" u="none" strike="noStrike" cap="none"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IN" sz="2000" b="1" dirty="0">
                          <a:solidFill>
                            <a:schemeClr val="tx1"/>
                          </a:solidFill>
                          <a:latin typeface="Times New Roman"/>
                          <a:ea typeface="Times New Roman"/>
                          <a:cs typeface="Times New Roman"/>
                          <a:sym typeface="Times New Roman"/>
                        </a:rPr>
                        <a:t>11</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l" rtl="0">
                        <a:lnSpc>
                          <a:spcPct val="100000"/>
                        </a:lnSpc>
                        <a:buNone/>
                      </a:pPr>
                      <a:r>
                        <a:rPr lang="en-GB" sz="2000" b="0" dirty="0">
                          <a:latin typeface="Times New Roman" panose="02020603050405020304" pitchFamily="18" charset="0"/>
                          <a:cs typeface="Times New Roman" panose="02020603050405020304" pitchFamily="18" charset="0"/>
                        </a:rPr>
                        <a:t>Drug-Specific Trend Analysis</a:t>
                      </a:r>
                      <a:endParaRPr lang="en-IN" sz="2000" b="0" dirty="0">
                        <a:effectLst/>
                        <a:latin typeface="Times New Roman" panose="02020603050405020304" pitchFamily="18" charset="0"/>
                        <a:cs typeface="Times New Roman" panose="02020603050405020304" pitchFamily="18" charset="0"/>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381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818761">
                <a:tc>
                  <a:txBody>
                    <a:bodyPr/>
                    <a:lstStyle/>
                    <a:p>
                      <a:pPr marL="0" lvl="0" indent="0" algn="ctr" rtl="0">
                        <a:spcBef>
                          <a:spcPts val="0"/>
                        </a:spcBef>
                        <a:spcAft>
                          <a:spcPts val="0"/>
                        </a:spcAft>
                        <a:buNone/>
                      </a:pPr>
                      <a:r>
                        <a:rPr lang="en-US" sz="2000" b="1" dirty="0">
                          <a:solidFill>
                            <a:schemeClr val="tx1"/>
                          </a:solidFill>
                          <a:latin typeface="Times New Roman"/>
                          <a:ea typeface="Times New Roman"/>
                          <a:cs typeface="Times New Roman"/>
                          <a:sym typeface="Times New Roman"/>
                        </a:rPr>
                        <a:t>6</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000" b="0" dirty="0">
                          <a:solidFill>
                            <a:schemeClr val="tx1"/>
                          </a:solidFill>
                          <a:latin typeface="Times New Roman"/>
                          <a:ea typeface="Times New Roman"/>
                          <a:cs typeface="Times New Roman"/>
                          <a:sym typeface="Times New Roman"/>
                        </a:rPr>
                        <a:t>Research Methodology and </a:t>
                      </a:r>
                      <a:r>
                        <a:rPr lang="en-US" sz="2000" b="0" i="0" u="none" strike="noStrike" cap="none" dirty="0">
                          <a:solidFill>
                            <a:schemeClr val="tx1"/>
                          </a:solidFill>
                          <a:latin typeface="Times New Roman"/>
                          <a:ea typeface="Times New Roman"/>
                          <a:cs typeface="Times New Roman"/>
                          <a:sym typeface="Times New Roman"/>
                        </a:rPr>
                        <a:t>Data Collection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IN" sz="2000" b="0" i="0" u="none" strike="noStrike" cap="none"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ctr" rtl="0">
                        <a:spcBef>
                          <a:spcPts val="0"/>
                        </a:spcBef>
                        <a:spcAft>
                          <a:spcPts val="0"/>
                        </a:spcAft>
                        <a:buNone/>
                      </a:pPr>
                      <a:r>
                        <a:rPr lang="en-US" sz="2000" b="1" dirty="0">
                          <a:solidFill>
                            <a:schemeClr val="tx1"/>
                          </a:solidFill>
                          <a:latin typeface="Times New Roman"/>
                          <a:ea typeface="Times New Roman"/>
                          <a:cs typeface="Times New Roman"/>
                          <a:sym typeface="Times New Roman"/>
                        </a:rPr>
                        <a:t>12</a:t>
                      </a:r>
                      <a:endParaRPr sz="2000" b="1"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lvl="0" indent="0" algn="l" rtl="0">
                        <a:lnSpc>
                          <a:spcPct val="100000"/>
                        </a:lnSpc>
                        <a:spcBef>
                          <a:spcPts val="0"/>
                        </a:spcBef>
                        <a:spcAft>
                          <a:spcPts val="0"/>
                        </a:spcAft>
                        <a:buNone/>
                      </a:pPr>
                      <a:r>
                        <a:rPr lang="en-GB" sz="2000" b="0" dirty="0">
                          <a:latin typeface="Times New Roman" panose="02020603050405020304" pitchFamily="18" charset="0"/>
                          <a:cs typeface="Times New Roman" panose="02020603050405020304" pitchFamily="18" charset="0"/>
                        </a:rPr>
                        <a:t>Interrupted Time Series (ITS) Analysis</a:t>
                      </a:r>
                      <a:endParaRPr sz="2000" b="0" i="0" u="none" dirty="0">
                        <a:solidFill>
                          <a:schemeClr val="tx1"/>
                        </a:solidFill>
                        <a:latin typeface="Times New Roman"/>
                        <a:ea typeface="Times New Roman"/>
                        <a:cs typeface="Times New Roman"/>
                        <a:sym typeface="Times New Roman"/>
                      </a:endParaRPr>
                    </a:p>
                  </a:txBody>
                  <a:tcPr marL="91425" marR="91425" marT="91425" marB="914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272530610"/>
                  </a:ext>
                </a:extLst>
              </a:tr>
            </a:tbl>
          </a:graphicData>
        </a:graphic>
      </p:graphicFrame>
      <p:sp>
        <p:nvSpPr>
          <p:cNvPr id="2" name="Google Shape;135;p9">
            <a:extLst>
              <a:ext uri="{FF2B5EF4-FFF2-40B4-BE49-F238E27FC236}">
                <a16:creationId xmlns:a16="http://schemas.microsoft.com/office/drawing/2014/main" id="{09ECEFF1-99E3-AF80-EBFF-A5F455D25DAB}"/>
              </a:ext>
            </a:extLst>
          </p:cNvPr>
          <p:cNvSpPr txBox="1"/>
          <p:nvPr/>
        </p:nvSpPr>
        <p:spPr>
          <a:xfrm>
            <a:off x="3484880" y="1170657"/>
            <a:ext cx="5222240" cy="650375"/>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00000"/>
              </a:lnSpc>
              <a:spcBef>
                <a:spcPts val="0"/>
              </a:spcBef>
              <a:spcAft>
                <a:spcPts val="0"/>
              </a:spcAft>
              <a:buClr>
                <a:schemeClr val="dk1"/>
              </a:buClr>
              <a:buSzPts val="4400"/>
              <a:buFont typeface="Century Gothic"/>
              <a:buNone/>
            </a:pPr>
            <a:r>
              <a:rPr lang="en-IN" sz="4000" b="1" i="0" u="none" strike="noStrike" cap="none" dirty="0">
                <a:solidFill>
                  <a:schemeClr val="dk1"/>
                </a:solidFill>
                <a:latin typeface="Times New Roman"/>
                <a:ea typeface="Times New Roman"/>
                <a:cs typeface="Times New Roman"/>
                <a:sym typeface="Times New Roman"/>
              </a:rPr>
              <a:t>INDEX</a:t>
            </a:r>
            <a:endParaRPr dirty="0"/>
          </a:p>
        </p:txBody>
      </p:sp>
    </p:spTree>
    <p:extLst>
      <p:ext uri="{BB962C8B-B14F-4D97-AF65-F5344CB8AC3E}">
        <p14:creationId xmlns:p14="http://schemas.microsoft.com/office/powerpoint/2010/main" val="155506917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A9697EE4-BD61-D269-FD50-CA136B7FC2A6}"/>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4D2EE08F-A93D-81A5-8BC9-B9BE82575E3D}"/>
              </a:ext>
            </a:extLst>
          </p:cNvPr>
          <p:cNvSpPr txBox="1"/>
          <p:nvPr/>
        </p:nvSpPr>
        <p:spPr>
          <a:xfrm>
            <a:off x="3484876" y="1388371"/>
            <a:ext cx="5222240" cy="650375"/>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00000"/>
              </a:lnSpc>
              <a:spcBef>
                <a:spcPts val="0"/>
              </a:spcBef>
              <a:spcAft>
                <a:spcPts val="0"/>
              </a:spcAft>
              <a:buClr>
                <a:schemeClr val="dk1"/>
              </a:buClr>
              <a:buSzPts val="4400"/>
              <a:buFont typeface="Century Gothic"/>
              <a:buNone/>
            </a:pPr>
            <a:r>
              <a:rPr lang="en-IN" sz="4000" b="1" i="0" u="none" strike="noStrike" cap="none" dirty="0">
                <a:solidFill>
                  <a:schemeClr val="dk1"/>
                </a:solidFill>
                <a:latin typeface="Times New Roman"/>
                <a:ea typeface="Times New Roman"/>
                <a:cs typeface="Times New Roman"/>
                <a:sym typeface="Times New Roman"/>
              </a:rPr>
              <a:t>INTRODUCTION</a:t>
            </a:r>
            <a:endParaRPr dirty="0"/>
          </a:p>
        </p:txBody>
      </p:sp>
      <p:sp>
        <p:nvSpPr>
          <p:cNvPr id="136" name="Google Shape;136;p9">
            <a:extLst>
              <a:ext uri="{FF2B5EF4-FFF2-40B4-BE49-F238E27FC236}">
                <a16:creationId xmlns:a16="http://schemas.microsoft.com/office/drawing/2014/main" id="{E98D1D82-72A2-3520-463D-B1CF72D3C94D}"/>
              </a:ext>
            </a:extLst>
          </p:cNvPr>
          <p:cNvSpPr txBox="1"/>
          <p:nvPr/>
        </p:nvSpPr>
        <p:spPr>
          <a:xfrm>
            <a:off x="478390" y="2142611"/>
            <a:ext cx="11235213" cy="4401164"/>
          </a:xfrm>
          <a:prstGeom prst="rect">
            <a:avLst/>
          </a:prstGeom>
          <a:noFill/>
          <a:ln>
            <a:noFill/>
          </a:ln>
        </p:spPr>
        <p:txBody>
          <a:bodyPr spcFirstLastPara="1" wrap="square" lIns="91425" tIns="45700" rIns="91425" bIns="45700" anchor="t" anchorCtr="0">
            <a:spAutoFit/>
          </a:bodyPr>
          <a:lstStyle/>
          <a:p>
            <a:pPr marL="285750" indent="-285750">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The pharmaceutical sector stands precisely at the juncture of public health priorities, economic performance and global supply chains with many facets. Therefore, understanding temporal shifts in drug consumption and expenditure is important to shape </a:t>
            </a:r>
            <a:r>
              <a:rPr lang="en-GB" sz="2000" b="1" dirty="0">
                <a:latin typeface="Times New Roman" panose="02020603050405020304" pitchFamily="18" charset="0"/>
                <a:cs typeface="Times New Roman" panose="02020603050405020304" pitchFamily="18" charset="0"/>
              </a:rPr>
              <a:t>effective healthcare policy, optimize market operations and make informed decisions on future demand patterns</a:t>
            </a:r>
            <a:r>
              <a:rPr lang="en-GB" sz="2000"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endParaRPr lang="en-GB"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This project comprehensively undertakes a time series and forecasting study aimed at uncovering such dynamics with a focus on </a:t>
            </a:r>
            <a:r>
              <a:rPr lang="en-GB" sz="2000" b="1" dirty="0">
                <a:latin typeface="Times New Roman" panose="02020603050405020304" pitchFamily="18" charset="0"/>
                <a:cs typeface="Times New Roman" panose="02020603050405020304" pitchFamily="18" charset="0"/>
              </a:rPr>
              <a:t>global pharmaceutical spending and the utilization of antidepressants</a:t>
            </a:r>
            <a:r>
              <a:rPr lang="en-GB"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pharmaceutical sector represents a critical intersection of </a:t>
            </a:r>
            <a:r>
              <a:rPr lang="en-US" sz="2000" b="1" dirty="0">
                <a:latin typeface="Times New Roman" panose="02020603050405020304" pitchFamily="18" charset="0"/>
                <a:cs typeface="Times New Roman" panose="02020603050405020304" pitchFamily="18" charset="0"/>
              </a:rPr>
              <a:t>public health priorities, economic performance and global supply chain dynamics</a:t>
            </a:r>
            <a:r>
              <a:rPr lang="en-US" sz="2000" dirty="0">
                <a:latin typeface="Times New Roman" panose="02020603050405020304" pitchFamily="18" charset="0"/>
                <a:cs typeface="Times New Roman" panose="02020603050405020304" pitchFamily="18" charset="0"/>
              </a:rPr>
              <a:t>. Understanding temporal </a:t>
            </a:r>
            <a:r>
              <a:rPr lang="en-US" sz="2000" b="1" dirty="0">
                <a:latin typeface="Times New Roman" panose="02020603050405020304" pitchFamily="18" charset="0"/>
                <a:cs typeface="Times New Roman" panose="02020603050405020304" pitchFamily="18" charset="0"/>
              </a:rPr>
              <a:t>shifts in drug consumption and expenditure patterns is essential </a:t>
            </a:r>
            <a:r>
              <a:rPr lang="en-US" sz="2000" dirty="0">
                <a:latin typeface="Times New Roman" panose="02020603050405020304" pitchFamily="18" charset="0"/>
                <a:cs typeface="Times New Roman" panose="02020603050405020304" pitchFamily="18" charset="0"/>
              </a:rPr>
              <a:t>for:</a:t>
            </a:r>
          </a:p>
          <a:p>
            <a:pPr marL="342900" lvl="4" indent="-342900" fontAlgn="base">
              <a:buFont typeface="+mj-lt"/>
              <a:buAutoNum type="arabicPeriod"/>
            </a:pPr>
            <a:r>
              <a:rPr lang="en-US" sz="2000" dirty="0">
                <a:latin typeface="Times New Roman" panose="02020603050405020304" pitchFamily="18" charset="0"/>
                <a:cs typeface="Times New Roman" panose="02020603050405020304" pitchFamily="18" charset="0"/>
              </a:rPr>
              <a:t>Effective healthcare policy formulation</a:t>
            </a:r>
          </a:p>
          <a:p>
            <a:pPr marL="342900" lvl="4" indent="-342900" fontAlgn="base">
              <a:buFont typeface="+mj-lt"/>
              <a:buAutoNum type="arabicPeriod"/>
            </a:pPr>
            <a:r>
              <a:rPr lang="en-US" sz="2000" dirty="0">
                <a:latin typeface="Times New Roman" panose="02020603050405020304" pitchFamily="18" charset="0"/>
                <a:cs typeface="Times New Roman" panose="02020603050405020304" pitchFamily="18" charset="0"/>
              </a:rPr>
              <a:t>Optimization of market operations</a:t>
            </a:r>
          </a:p>
          <a:p>
            <a:pPr marL="342900" lvl="4" indent="-342900" fontAlgn="base">
              <a:buFont typeface="+mj-lt"/>
              <a:buAutoNum type="arabicPeriod"/>
            </a:pPr>
            <a:r>
              <a:rPr lang="en-US" sz="2000" dirty="0">
                <a:latin typeface="Times New Roman" panose="02020603050405020304" pitchFamily="18" charset="0"/>
                <a:cs typeface="Times New Roman" panose="02020603050405020304" pitchFamily="18" charset="0"/>
              </a:rPr>
              <a:t>Informed forecasting of future demand patterns</a:t>
            </a:r>
          </a:p>
        </p:txBody>
      </p:sp>
    </p:spTree>
    <p:extLst>
      <p:ext uri="{BB962C8B-B14F-4D97-AF65-F5344CB8AC3E}">
        <p14:creationId xmlns:p14="http://schemas.microsoft.com/office/powerpoint/2010/main" val="354326626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9"/>
          <p:cNvSpPr txBox="1"/>
          <p:nvPr/>
        </p:nvSpPr>
        <p:spPr>
          <a:xfrm>
            <a:off x="4382116" y="1330861"/>
            <a:ext cx="3427758" cy="650375"/>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00000"/>
              </a:lnSpc>
              <a:spcBef>
                <a:spcPts val="0"/>
              </a:spcBef>
              <a:spcAft>
                <a:spcPts val="0"/>
              </a:spcAft>
              <a:buClr>
                <a:schemeClr val="dk1"/>
              </a:buClr>
              <a:buSzPts val="4400"/>
              <a:buFont typeface="Century Gothic"/>
              <a:buNone/>
            </a:pPr>
            <a:r>
              <a:rPr lang="en-IN" sz="4000" b="1" i="0" u="none" strike="noStrike" cap="none" dirty="0">
                <a:solidFill>
                  <a:schemeClr val="dk1"/>
                </a:solidFill>
                <a:latin typeface="Times New Roman"/>
                <a:ea typeface="Times New Roman"/>
                <a:cs typeface="Times New Roman"/>
                <a:sym typeface="Times New Roman"/>
              </a:rPr>
              <a:t>OBJECTIVES</a:t>
            </a:r>
            <a:endParaRPr dirty="0"/>
          </a:p>
        </p:txBody>
      </p:sp>
      <p:sp>
        <p:nvSpPr>
          <p:cNvPr id="136" name="Google Shape;136;p9"/>
          <p:cNvSpPr txBox="1"/>
          <p:nvPr/>
        </p:nvSpPr>
        <p:spPr>
          <a:xfrm>
            <a:off x="478389" y="2240380"/>
            <a:ext cx="11235213" cy="3416279"/>
          </a:xfrm>
          <a:prstGeom prst="rect">
            <a:avLst/>
          </a:prstGeom>
          <a:noFill/>
          <a:ln>
            <a:noFill/>
          </a:ln>
        </p:spPr>
        <p:txBody>
          <a:bodyPr spcFirstLastPara="1" wrap="square" lIns="91425" tIns="45700" rIns="91425" bIns="45700" anchor="t" anchorCtr="0">
            <a:spAutoFit/>
          </a:bodyPr>
          <a:lstStyle/>
          <a:p>
            <a:pPr marL="457200" indent="-457200" fontAlgn="base">
              <a:lnSpc>
                <a:spcPct val="15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Exploratory Data Analysis - (EDA) and Trend Decomposition</a:t>
            </a:r>
            <a:endParaRPr lang="en-GB" sz="2000" dirty="0">
              <a:latin typeface="Times New Roman" panose="02020603050405020304" pitchFamily="18" charset="0"/>
              <a:cs typeface="Times New Roman" panose="02020603050405020304" pitchFamily="18" charset="0"/>
            </a:endParaRPr>
          </a:p>
          <a:p>
            <a:pPr marL="457200" indent="-457200" fontAlgn="base">
              <a:lnSpc>
                <a:spcPct val="15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Univariate Time Series Forecasting - Model Comparison and Selection</a:t>
            </a:r>
          </a:p>
          <a:p>
            <a:pPr marL="457200" indent="-457200" fontAlgn="base">
              <a:lnSpc>
                <a:spcPct val="15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Multivariate Regression Analysis - Investigation and Limitation Assessment</a:t>
            </a:r>
            <a:endParaRPr lang="en-GB" sz="2000" dirty="0">
              <a:latin typeface="Times New Roman" panose="02020603050405020304" pitchFamily="18" charset="0"/>
              <a:cs typeface="Times New Roman" panose="02020603050405020304" pitchFamily="18" charset="0"/>
            </a:endParaRPr>
          </a:p>
          <a:p>
            <a:pPr marL="457200" indent="-457200" fontAlgn="base">
              <a:lnSpc>
                <a:spcPct val="15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Exponential Smoothing Forecast - Total Antidepressant Spending</a:t>
            </a:r>
            <a:endParaRPr lang="en-GB" sz="2000" dirty="0">
              <a:latin typeface="Times New Roman" panose="02020603050405020304" pitchFamily="18" charset="0"/>
              <a:cs typeface="Times New Roman" panose="02020603050405020304" pitchFamily="18" charset="0"/>
            </a:endParaRPr>
          </a:p>
          <a:p>
            <a:pPr marL="457200" indent="-457200" fontAlgn="base">
              <a:lnSpc>
                <a:spcPct val="15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Drug-Specific Trend Analysis - Top Antidepressant Performance</a:t>
            </a:r>
            <a:endParaRPr lang="en-GB" sz="2000" dirty="0">
              <a:latin typeface="Times New Roman" panose="02020603050405020304" pitchFamily="18" charset="0"/>
              <a:cs typeface="Times New Roman" panose="02020603050405020304" pitchFamily="18" charset="0"/>
            </a:endParaRPr>
          </a:p>
          <a:p>
            <a:pPr marL="457200" indent="-457200" fontAlgn="base">
              <a:lnSpc>
                <a:spcPct val="15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Interrupted Time Series (ITS) Analysis - COVID-19 Pandemic Impact</a:t>
            </a:r>
            <a:r>
              <a:rPr lang="en-IN" sz="2400" u="none" strike="noStrike" cap="none" dirty="0">
                <a:solidFill>
                  <a:srgbClr val="000000"/>
                </a:solidFill>
                <a:latin typeface="Times New Roman" panose="02020603050405020304" pitchFamily="18" charset="0"/>
                <a:ea typeface="Times New Roman"/>
                <a:cs typeface="Times New Roman" panose="02020603050405020304" pitchFamily="18" charset="0"/>
                <a:sym typeface="Times New Roman"/>
              </a:rPr>
              <a:t> </a:t>
            </a:r>
            <a:endParaRPr sz="2400" dirty="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F060DF65-5027-78EA-F67C-D1DF83C8A38F}"/>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B7E4F9B1-6949-ADE8-C2AE-E4A447BF65C4}"/>
              </a:ext>
            </a:extLst>
          </p:cNvPr>
          <p:cNvSpPr txBox="1"/>
          <p:nvPr/>
        </p:nvSpPr>
        <p:spPr>
          <a:xfrm>
            <a:off x="4474129" y="1262201"/>
            <a:ext cx="3243731" cy="650375"/>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00000"/>
              </a:lnSpc>
              <a:spcBef>
                <a:spcPts val="0"/>
              </a:spcBef>
              <a:spcAft>
                <a:spcPts val="0"/>
              </a:spcAft>
              <a:buClr>
                <a:schemeClr val="dk1"/>
              </a:buClr>
              <a:buSzPts val="4400"/>
              <a:buFont typeface="Century Gothic"/>
              <a:buNone/>
            </a:pPr>
            <a:r>
              <a:rPr lang="en-IN" sz="4000" b="1" i="0" u="none" strike="noStrike" cap="none" dirty="0">
                <a:solidFill>
                  <a:schemeClr val="dk1"/>
                </a:solidFill>
                <a:latin typeface="Times New Roman"/>
                <a:ea typeface="Times New Roman"/>
                <a:cs typeface="Times New Roman"/>
                <a:sym typeface="Times New Roman"/>
              </a:rPr>
              <a:t>KEY TERMS</a:t>
            </a:r>
            <a:endParaRPr dirty="0"/>
          </a:p>
        </p:txBody>
      </p:sp>
      <p:sp>
        <p:nvSpPr>
          <p:cNvPr id="136" name="Google Shape;136;p9">
            <a:extLst>
              <a:ext uri="{FF2B5EF4-FFF2-40B4-BE49-F238E27FC236}">
                <a16:creationId xmlns:a16="http://schemas.microsoft.com/office/drawing/2014/main" id="{B5040195-C313-FA08-8136-1DA45E931DFE}"/>
              </a:ext>
            </a:extLst>
          </p:cNvPr>
          <p:cNvSpPr txBox="1"/>
          <p:nvPr/>
        </p:nvSpPr>
        <p:spPr>
          <a:xfrm>
            <a:off x="478387" y="2160000"/>
            <a:ext cx="11235213" cy="4401164"/>
          </a:xfrm>
          <a:prstGeom prst="rect">
            <a:avLst/>
          </a:prstGeom>
          <a:noFill/>
          <a:ln>
            <a:noFill/>
          </a:ln>
        </p:spPr>
        <p:txBody>
          <a:bodyPr spcFirstLastPara="1" wrap="square" lIns="91425" tIns="45700" rIns="91425" bIns="45700" anchor="t" anchorCtr="0">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Time Series Analysis:</a:t>
            </a:r>
            <a:r>
              <a:rPr lang="en-US" sz="2000" dirty="0">
                <a:latin typeface="Times New Roman" panose="02020603050405020304" pitchFamily="18" charset="0"/>
                <a:cs typeface="Times New Roman" panose="02020603050405020304" pitchFamily="18" charset="0"/>
              </a:rPr>
              <a:t> A statistical technique for analyzing data points collected or recorded at successive time intervals to identify patterns, trends and forecast future values.</a:t>
            </a:r>
          </a:p>
          <a:p>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Stationarity:</a:t>
            </a:r>
            <a:r>
              <a:rPr lang="en-US" sz="2000" dirty="0">
                <a:latin typeface="Times New Roman" panose="02020603050405020304" pitchFamily="18" charset="0"/>
                <a:cs typeface="Times New Roman" panose="02020603050405020304" pitchFamily="18" charset="0"/>
              </a:rPr>
              <a:t> A time series property where statistical characteristics (mean, variance, autocorrelation) remain constant over time. Non-stationary data requires transformation (differencing) before modeling.</a:t>
            </a:r>
          </a:p>
          <a:p>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CAGR (Compound Annual Growth Rate):</a:t>
            </a:r>
            <a:r>
              <a:rPr lang="en-US" sz="2000" dirty="0">
                <a:latin typeface="Times New Roman" panose="02020603050405020304" pitchFamily="18" charset="0"/>
                <a:cs typeface="Times New Roman" panose="02020603050405020304" pitchFamily="18" charset="0"/>
              </a:rPr>
              <a:t> A metric measuring the mean annual growth rate over a specified period, accounting for compounding effects: </a:t>
            </a:r>
          </a:p>
          <a:p>
            <a:r>
              <a:rPr lang="en-US" sz="2000" dirty="0">
                <a:latin typeface="Times New Roman" panose="02020603050405020304" pitchFamily="18" charset="0"/>
                <a:cs typeface="Times New Roman" panose="02020603050405020304" pitchFamily="18" charset="0"/>
              </a:rPr>
              <a:t>     CAGR = (Ending Value / Beginning Value)^(1/n) – 1</a:t>
            </a:r>
          </a:p>
          <a:p>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Multicollinearity:</a:t>
            </a:r>
            <a:r>
              <a:rPr lang="en-US" sz="2000" dirty="0">
                <a:latin typeface="Times New Roman" panose="02020603050405020304" pitchFamily="18" charset="0"/>
                <a:cs typeface="Times New Roman" panose="02020603050405020304" pitchFamily="18" charset="0"/>
              </a:rPr>
              <a:t> A statistical phenomenon where independent variables in a regression model are highly correlated (r &gt; 0.90), making it difficult to isolate individual predictor effects.</a:t>
            </a:r>
          </a:p>
          <a:p>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Back testing:</a:t>
            </a:r>
            <a:r>
              <a:rPr lang="en-US" sz="2000" dirty="0">
                <a:latin typeface="Times New Roman" panose="02020603050405020304" pitchFamily="18" charset="0"/>
                <a:cs typeface="Times New Roman" panose="02020603050405020304" pitchFamily="18" charset="0"/>
              </a:rPr>
              <a:t> A validation technique where models are trained on historical data and tested on held-out periods to assess out-of-sample forecast accuracy.</a:t>
            </a:r>
          </a:p>
        </p:txBody>
      </p:sp>
    </p:spTree>
    <p:extLst>
      <p:ext uri="{BB962C8B-B14F-4D97-AF65-F5344CB8AC3E}">
        <p14:creationId xmlns:p14="http://schemas.microsoft.com/office/powerpoint/2010/main" val="91704434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C502E3C6-5ED1-9C39-08A1-F1ABA1849833}"/>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8CE9F476-D3E0-29CE-B190-F1D1A4B0EFD3}"/>
              </a:ext>
            </a:extLst>
          </p:cNvPr>
          <p:cNvSpPr txBox="1"/>
          <p:nvPr/>
        </p:nvSpPr>
        <p:spPr>
          <a:xfrm>
            <a:off x="4474132" y="1233095"/>
            <a:ext cx="3243728" cy="650375"/>
          </a:xfrm>
          <a:prstGeom prst="rect">
            <a:avLst/>
          </a:prstGeom>
          <a:noFill/>
          <a:ln>
            <a:noFill/>
          </a:ln>
        </p:spPr>
        <p:txBody>
          <a:bodyPr spcFirstLastPara="1" wrap="square" lIns="91425" tIns="45700" rIns="91425" bIns="45700" anchor="ctr" anchorCtr="0">
            <a:normAutofit lnSpcReduction="10000"/>
          </a:bodyPr>
          <a:lstStyle/>
          <a:p>
            <a:pPr marL="0" marR="0" lvl="0" indent="0" algn="ctr" rtl="0">
              <a:lnSpc>
                <a:spcPct val="100000"/>
              </a:lnSpc>
              <a:spcBef>
                <a:spcPts val="0"/>
              </a:spcBef>
              <a:spcAft>
                <a:spcPts val="0"/>
              </a:spcAft>
              <a:buClr>
                <a:schemeClr val="dk1"/>
              </a:buClr>
              <a:buSzPts val="4400"/>
              <a:buFont typeface="Century Gothic"/>
              <a:buNone/>
            </a:pPr>
            <a:r>
              <a:rPr lang="en-IN" sz="4000" b="1" i="0" u="none" strike="noStrike" cap="none" dirty="0">
                <a:solidFill>
                  <a:schemeClr val="dk1"/>
                </a:solidFill>
                <a:latin typeface="Times New Roman"/>
                <a:ea typeface="Times New Roman"/>
                <a:cs typeface="Times New Roman"/>
                <a:sym typeface="Times New Roman"/>
              </a:rPr>
              <a:t>KEY TERMS</a:t>
            </a:r>
            <a:endParaRPr dirty="0"/>
          </a:p>
        </p:txBody>
      </p:sp>
      <p:sp>
        <p:nvSpPr>
          <p:cNvPr id="136" name="Google Shape;136;p9">
            <a:extLst>
              <a:ext uri="{FF2B5EF4-FFF2-40B4-BE49-F238E27FC236}">
                <a16:creationId xmlns:a16="http://schemas.microsoft.com/office/drawing/2014/main" id="{ABD8FF15-95CD-51A3-9839-6CF3CC23815F}"/>
              </a:ext>
            </a:extLst>
          </p:cNvPr>
          <p:cNvSpPr txBox="1"/>
          <p:nvPr/>
        </p:nvSpPr>
        <p:spPr>
          <a:xfrm>
            <a:off x="478389" y="1946731"/>
            <a:ext cx="11235213" cy="4801274"/>
          </a:xfrm>
          <a:prstGeom prst="rect">
            <a:avLst/>
          </a:prstGeom>
          <a:noFill/>
          <a:ln>
            <a:noFill/>
          </a:ln>
        </p:spPr>
        <p:txBody>
          <a:bodyPr spcFirstLastPara="1" wrap="square" lIns="91425" tIns="45700" rIns="91425" bIns="45700" anchor="t" anchorCtr="0">
            <a:spAutoFit/>
          </a:bodyPr>
          <a:lstStyle/>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ARIMA (Auto Regressive Integrated Moving Average):</a:t>
            </a:r>
            <a:r>
              <a:rPr lang="en-US" sz="2000" dirty="0">
                <a:latin typeface="Times New Roman" panose="02020603050405020304" pitchFamily="18" charset="0"/>
                <a:cs typeface="Times New Roman" panose="02020603050405020304" pitchFamily="18" charset="0"/>
              </a:rPr>
              <a:t> A time series forecasting model combining autoregression (AR), differencing (I for Integrated) and moving average (MA) components. </a:t>
            </a:r>
          </a:p>
          <a:p>
            <a:r>
              <a:rPr lang="en-US" sz="2000" dirty="0">
                <a:latin typeface="Times New Roman" panose="02020603050405020304" pitchFamily="18" charset="0"/>
                <a:cs typeface="Times New Roman" panose="02020603050405020304" pitchFamily="18" charset="0"/>
              </a:rPr>
              <a:t>     Notation: ARIMA(</a:t>
            </a:r>
            <a:r>
              <a:rPr lang="en-US" sz="2000" dirty="0" err="1">
                <a:latin typeface="Times New Roman" panose="02020603050405020304" pitchFamily="18" charset="0"/>
                <a:cs typeface="Times New Roman" panose="02020603050405020304" pitchFamily="18" charset="0"/>
              </a:rPr>
              <a:t>p,d,q</a:t>
            </a:r>
            <a:r>
              <a:rPr lang="en-US" sz="2000" dirty="0">
                <a:latin typeface="Times New Roman" panose="02020603050405020304" pitchFamily="18" charset="0"/>
                <a:cs typeface="Times New Roman" panose="02020603050405020304" pitchFamily="18" charset="0"/>
              </a:rPr>
              <a:t>) where p=AR order, d=differencing order, q=MA order.</a:t>
            </a:r>
          </a:p>
          <a:p>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ETS (Error, Trend, Seasonal) / Exponential Smoothing:</a:t>
            </a:r>
            <a:r>
              <a:rPr lang="en-US" sz="2000" dirty="0">
                <a:latin typeface="Times New Roman" panose="02020603050405020304" pitchFamily="18" charset="0"/>
                <a:cs typeface="Times New Roman" panose="02020603050405020304" pitchFamily="18" charset="0"/>
              </a:rPr>
              <a:t> A forecasting method applying exponentially decreasing weights to past observations. ETS(A,A,N) denotes Additive error, Additive trend, No seasonality.</a:t>
            </a:r>
          </a:p>
          <a:p>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Prophet:</a:t>
            </a:r>
            <a:r>
              <a:rPr lang="en-US" sz="2000" dirty="0">
                <a:latin typeface="Times New Roman" panose="02020603050405020304" pitchFamily="18" charset="0"/>
                <a:cs typeface="Times New Roman" panose="02020603050405020304" pitchFamily="18" charset="0"/>
              </a:rPr>
              <a:t> A Bayesian forecasting algorithm developed by Facebook featuring automatic changepoint detection and flexible trend modeling through piecewise linear functions.</a:t>
            </a:r>
          </a:p>
          <a:p>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Interrupted Time Series (ITS):</a:t>
            </a:r>
            <a:r>
              <a:rPr lang="en-US" sz="2000" dirty="0">
                <a:latin typeface="Times New Roman" panose="02020603050405020304" pitchFamily="18" charset="0"/>
                <a:cs typeface="Times New Roman" panose="02020603050405020304" pitchFamily="18" charset="0"/>
              </a:rPr>
              <a:t> A quasi-experimental design evaluating intervention effects by comparing trends before and after a clearly defined intervention point, enabling causal inference.</a:t>
            </a:r>
          </a:p>
          <a:p>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PPP (Purchasing Power Parity):</a:t>
            </a:r>
            <a:r>
              <a:rPr lang="en-US" sz="2000" dirty="0">
                <a:latin typeface="Times New Roman" panose="02020603050405020304" pitchFamily="18" charset="0"/>
                <a:cs typeface="Times New Roman" panose="02020603050405020304" pitchFamily="18" charset="0"/>
              </a:rPr>
              <a:t> An economic metric adjusting monetary values across countries to account for cost-of-living differences, enabling valid cross-country comparisons.</a:t>
            </a:r>
          </a:p>
        </p:txBody>
      </p:sp>
    </p:spTree>
    <p:extLst>
      <p:ext uri="{BB962C8B-B14F-4D97-AF65-F5344CB8AC3E}">
        <p14:creationId xmlns:p14="http://schemas.microsoft.com/office/powerpoint/2010/main" val="147483226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oogle Shape;38;g195da297051_0_29">
            <a:extLst>
              <a:ext uri="{FF2B5EF4-FFF2-40B4-BE49-F238E27FC236}">
                <a16:creationId xmlns:a16="http://schemas.microsoft.com/office/drawing/2014/main" id="{FEB6B9C9-44C4-E249-2662-1F0EAB42AEF3}"/>
              </a:ext>
            </a:extLst>
          </p:cNvPr>
          <p:cNvGraphicFramePr/>
          <p:nvPr>
            <p:extLst>
              <p:ext uri="{D42A27DB-BD31-4B8C-83A1-F6EECF244321}">
                <p14:modId xmlns:p14="http://schemas.microsoft.com/office/powerpoint/2010/main" val="4199506748"/>
              </p:ext>
            </p:extLst>
          </p:nvPr>
        </p:nvGraphicFramePr>
        <p:xfrm>
          <a:off x="219958" y="468882"/>
          <a:ext cx="11763081" cy="6209796"/>
        </p:xfrm>
        <a:graphic>
          <a:graphicData uri="http://schemas.openxmlformats.org/drawingml/2006/table">
            <a:tbl>
              <a:tblPr>
                <a:noFill/>
              </a:tblPr>
              <a:tblGrid>
                <a:gridCol w="2756019">
                  <a:extLst>
                    <a:ext uri="{9D8B030D-6E8A-4147-A177-3AD203B41FA5}">
                      <a16:colId xmlns:a16="http://schemas.microsoft.com/office/drawing/2014/main" val="20000"/>
                    </a:ext>
                  </a:extLst>
                </a:gridCol>
                <a:gridCol w="1393158">
                  <a:extLst>
                    <a:ext uri="{9D8B030D-6E8A-4147-A177-3AD203B41FA5}">
                      <a16:colId xmlns:a16="http://schemas.microsoft.com/office/drawing/2014/main" val="20001"/>
                    </a:ext>
                  </a:extLst>
                </a:gridCol>
                <a:gridCol w="784127">
                  <a:extLst>
                    <a:ext uri="{9D8B030D-6E8A-4147-A177-3AD203B41FA5}">
                      <a16:colId xmlns:a16="http://schemas.microsoft.com/office/drawing/2014/main" val="3941244547"/>
                    </a:ext>
                  </a:extLst>
                </a:gridCol>
                <a:gridCol w="6829777">
                  <a:extLst>
                    <a:ext uri="{9D8B030D-6E8A-4147-A177-3AD203B41FA5}">
                      <a16:colId xmlns:a16="http://schemas.microsoft.com/office/drawing/2014/main" val="20002"/>
                    </a:ext>
                  </a:extLst>
                </a:gridCol>
              </a:tblGrid>
              <a:tr h="311066">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1297136"/>
                  </a:ext>
                </a:extLst>
              </a:tr>
              <a:tr h="311066">
                <a:tc>
                  <a:txBody>
                    <a:bodyPr/>
                    <a:lstStyle/>
                    <a:p>
                      <a:pPr marL="0" marR="0" lvl="0" indent="0" algn="just" rtl="0">
                        <a:lnSpc>
                          <a:spcPct val="100000"/>
                        </a:lnSpc>
                        <a:spcBef>
                          <a:spcPts val="0"/>
                        </a:spcBef>
                        <a:spcAft>
                          <a:spcPts val="0"/>
                        </a:spcAft>
                        <a:buClr>
                          <a:srgbClr val="000000"/>
                        </a:buClr>
                        <a:buFont typeface="Arial"/>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Font typeface="Arial"/>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Font typeface="Arial"/>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rtl="0">
                        <a:lnSpc>
                          <a:spcPct val="100000"/>
                        </a:lnSpc>
                        <a:spcBef>
                          <a:spcPts val="0"/>
                        </a:spcBef>
                        <a:spcAft>
                          <a:spcPts val="0"/>
                        </a:spcAft>
                        <a:buClr>
                          <a:srgbClr val="000000"/>
                        </a:buClr>
                        <a:buFont typeface="Arial"/>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6457134"/>
                  </a:ext>
                </a:extLst>
              </a:tr>
              <a:tr h="311066">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0614369"/>
                  </a:ext>
                </a:extLst>
              </a:tr>
              <a:tr h="311066">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6472559"/>
                  </a:ext>
                </a:extLst>
              </a:tr>
              <a:tr h="311066">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7098118"/>
                  </a:ext>
                </a:extLst>
              </a:tr>
              <a:tr h="311066">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864574"/>
                  </a:ext>
                </a:extLst>
              </a:tr>
              <a:tr h="703897">
                <a:tc>
                  <a:txBody>
                    <a:bodyPr/>
                    <a:lstStyle/>
                    <a:p>
                      <a:pPr algn="ctr" rtl="0" fontAlgn="ctr">
                        <a:buNone/>
                      </a:pPr>
                      <a:r>
                        <a:rPr lang="en-US" sz="1500" dirty="0">
                          <a:effectLst/>
                          <a:latin typeface="Times New Roman" panose="02020603050405020304" pitchFamily="18" charset="0"/>
                          <a:cs typeface="Times New Roman" panose="02020603050405020304" pitchFamily="18" charset="0"/>
                        </a:rPr>
                        <a:t>Temporary and sustained changes in alcoholic and alcohol-free or low-alcohol drinks sales during January? A time series analysis of seasonal patterning in Great Britain</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dirty="0" err="1">
                          <a:effectLst/>
                          <a:latin typeface="Times New Roman" panose="02020603050405020304" pitchFamily="18" charset="0"/>
                          <a:cs typeface="Times New Roman" panose="02020603050405020304" pitchFamily="18" charset="0"/>
                        </a:rPr>
                        <a:t>Moolla</a:t>
                      </a:r>
                      <a:r>
                        <a:rPr lang="en-IN" sz="1500" dirty="0">
                          <a:effectLst/>
                          <a:latin typeface="Times New Roman" panose="02020603050405020304" pitchFamily="18" charset="0"/>
                          <a:cs typeface="Times New Roman" panose="02020603050405020304" pitchFamily="18" charset="0"/>
                        </a:rPr>
                        <a:t>, A., Holmes, J., Wilson, L., Brown, J., Kersbergen, I., Stevely, A.</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dirty="0">
                          <a:effectLst/>
                          <a:latin typeface="Times New Roman" panose="02020603050405020304" pitchFamily="18" charset="0"/>
                          <a:cs typeface="Times New Roman" panose="02020603050405020304" pitchFamily="18" charset="0"/>
                        </a:rPr>
                        <a:t>2025</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US" sz="1500">
                          <a:effectLst/>
                          <a:latin typeface="Times New Roman" panose="02020603050405020304" pitchFamily="18" charset="0"/>
                          <a:cs typeface="Times New Roman" panose="02020603050405020304" pitchFamily="18" charset="0"/>
                        </a:rPr>
                        <a:t>ARIMAX time series models identified significant seasonal patterns in alcohol sales with 177% increase in no/lo drink calls (2000-2019). Demonstrated temporary January effects with no substantial sustained changes. Shows importance of seasonal decomposition for understanding short vs. long-term market trends.</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3998116"/>
                  </a:ext>
                </a:extLst>
              </a:tr>
              <a:tr h="469265">
                <a:tc>
                  <a:txBody>
                    <a:bodyPr/>
                    <a:lstStyle/>
                    <a:p>
                      <a:pPr algn="ctr" rtl="0" fontAlgn="ctr">
                        <a:buNone/>
                      </a:pPr>
                      <a:r>
                        <a:rPr lang="en-US" sz="1500" dirty="0">
                          <a:effectLst/>
                          <a:latin typeface="Times New Roman" panose="02020603050405020304" pitchFamily="18" charset="0"/>
                          <a:cs typeface="Times New Roman" panose="02020603050405020304" pitchFamily="18" charset="0"/>
                        </a:rPr>
                        <a:t>A hybrid SARIMA wavelet transform method for sales forecasting</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fr-FR" sz="1500" dirty="0">
                          <a:effectLst/>
                          <a:latin typeface="Times New Roman" panose="02020603050405020304" pitchFamily="18" charset="0"/>
                          <a:cs typeface="Times New Roman" panose="02020603050405020304" pitchFamily="18" charset="0"/>
                        </a:rPr>
                        <a:t>Choi, T.M., Yu, Y., Au, K.F.</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dirty="0">
                          <a:effectLst/>
                          <a:latin typeface="Times New Roman" panose="02020603050405020304" pitchFamily="18" charset="0"/>
                          <a:cs typeface="Times New Roman" panose="02020603050405020304" pitchFamily="18" charset="0"/>
                        </a:rPr>
                        <a:t>2011</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US" sz="1500">
                          <a:effectLst/>
                          <a:latin typeface="Times New Roman" panose="02020603050405020304" pitchFamily="18" charset="0"/>
                          <a:cs typeface="Times New Roman" panose="02020603050405020304" pitchFamily="18" charset="0"/>
                        </a:rPr>
                        <a:t>Hybrid SARIMA-wavelet transform (SW) method outperformed traditional SARIMA and exponential smoothing for highly volatile sales patterns. Demonstrated effectiveness of combining classical time series methods with advanced decomposition techniques. Critical for handling seasonal patterns in retail sales forecasting.</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5783416"/>
                  </a:ext>
                </a:extLst>
              </a:tr>
              <a:tr h="469265">
                <a:tc>
                  <a:txBody>
                    <a:bodyPr/>
                    <a:lstStyle/>
                    <a:p>
                      <a:pPr algn="ctr" rtl="0" fontAlgn="ctr">
                        <a:buNone/>
                      </a:pPr>
                      <a:r>
                        <a:rPr lang="en-US" sz="1500">
                          <a:effectLst/>
                          <a:latin typeface="Times New Roman" panose="02020603050405020304" pitchFamily="18" charset="0"/>
                          <a:cs typeface="Times New Roman" panose="02020603050405020304" pitchFamily="18" charset="0"/>
                        </a:rPr>
                        <a:t>Time is money: Dynamic-model-based time series data-mining for correlation analysis of commodity sales</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it-IT" sz="1500" dirty="0">
                          <a:effectLst/>
                          <a:latin typeface="Times New Roman" panose="02020603050405020304" pitchFamily="18" charset="0"/>
                          <a:cs typeface="Times New Roman" panose="02020603050405020304" pitchFamily="18" charset="0"/>
                        </a:rPr>
                        <a:t>Li, H., Wu, Y.J., Chen, Y.</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a:effectLst/>
                          <a:latin typeface="Times New Roman" panose="02020603050405020304" pitchFamily="18" charset="0"/>
                          <a:cs typeface="Times New Roman" panose="02020603050405020304" pitchFamily="18" charset="0"/>
                        </a:rPr>
                        <a:t>2020</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US" sz="1500" dirty="0">
                          <a:effectLst/>
                          <a:latin typeface="Times New Roman" panose="02020603050405020304" pitchFamily="18" charset="0"/>
                          <a:cs typeface="Times New Roman" panose="02020603050405020304" pitchFamily="18" charset="0"/>
                        </a:rPr>
                        <a:t>Dynamic model combining distance models at different observation windows improved sales correlation analysis. Demonstrated that right timing for product promotion significantly impacts sales. Applied affinity propagation clustering and K-nearest neighbors for time series pattern recognition in retail contexts.</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91981405"/>
                  </a:ext>
                </a:extLst>
              </a:tr>
              <a:tr h="586581">
                <a:tc>
                  <a:txBody>
                    <a:bodyPr/>
                    <a:lstStyle/>
                    <a:p>
                      <a:pPr algn="ctr" rtl="0" fontAlgn="ctr">
                        <a:buNone/>
                      </a:pPr>
                      <a:r>
                        <a:rPr lang="en-US" sz="1500" dirty="0">
                          <a:effectLst/>
                          <a:latin typeface="Times New Roman" panose="02020603050405020304" pitchFamily="18" charset="0"/>
                          <a:cs typeface="Times New Roman" panose="02020603050405020304" pitchFamily="18" charset="0"/>
                        </a:rPr>
                        <a:t>Time-trend analysis of medicine sales and shortages during COVID-19 outbreak: Data from community pharmacies</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pt-BR" sz="1500">
                          <a:effectLst/>
                          <a:latin typeface="Times New Roman" panose="02020603050405020304" pitchFamily="18" charset="0"/>
                          <a:cs typeface="Times New Roman" panose="02020603050405020304" pitchFamily="18" charset="0"/>
                        </a:rPr>
                        <a:t>Romano, S., Galante, H., Figueira, D., Mendes, Z., Rodrigues, A.T.</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a:effectLst/>
                          <a:latin typeface="Times New Roman" panose="02020603050405020304" pitchFamily="18" charset="0"/>
                          <a:cs typeface="Times New Roman" panose="02020603050405020304" pitchFamily="18" charset="0"/>
                        </a:rPr>
                        <a:t>2021</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dirty="0">
                          <a:effectLst/>
                          <a:latin typeface="Times New Roman" panose="02020603050405020304" pitchFamily="18" charset="0"/>
                          <a:cs typeface="Times New Roman" panose="02020603050405020304" pitchFamily="18" charset="0"/>
                        </a:rPr>
                        <a:t>Time series analysis revealed 177% increase in opioid-related poisoning calls and 91.3% increase in opioid sales (2000-2019) in Switzerland. Identified specific trends for individual pharmaceuticals (tramadol, oxycodone). Demonstrates value of pharmacy-level sales data for monitoring pharmaceutical market trends and public health surveillance.</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87372521"/>
                  </a:ext>
                </a:extLst>
              </a:tr>
            </a:tbl>
          </a:graphicData>
        </a:graphic>
      </p:graphicFrame>
      <p:graphicFrame>
        <p:nvGraphicFramePr>
          <p:cNvPr id="4" name="Table 3">
            <a:extLst>
              <a:ext uri="{FF2B5EF4-FFF2-40B4-BE49-F238E27FC236}">
                <a16:creationId xmlns:a16="http://schemas.microsoft.com/office/drawing/2014/main" id="{2DD6FCF8-5FE9-F75B-FE98-51044214FEC7}"/>
              </a:ext>
            </a:extLst>
          </p:cNvPr>
          <p:cNvGraphicFramePr>
            <a:graphicFrameLocks noGrp="1"/>
          </p:cNvGraphicFramePr>
          <p:nvPr>
            <p:extLst>
              <p:ext uri="{D42A27DB-BD31-4B8C-83A1-F6EECF244321}">
                <p14:modId xmlns:p14="http://schemas.microsoft.com/office/powerpoint/2010/main" val="2352457157"/>
              </p:ext>
            </p:extLst>
          </p:nvPr>
        </p:nvGraphicFramePr>
        <p:xfrm>
          <a:off x="219958" y="1937666"/>
          <a:ext cx="11774078" cy="393856"/>
        </p:xfrm>
        <a:graphic>
          <a:graphicData uri="http://schemas.openxmlformats.org/drawingml/2006/table">
            <a:tbl>
              <a:tblPr>
                <a:noFill/>
              </a:tblPr>
              <a:tblGrid>
                <a:gridCol w="2742519">
                  <a:extLst>
                    <a:ext uri="{9D8B030D-6E8A-4147-A177-3AD203B41FA5}">
                      <a16:colId xmlns:a16="http://schemas.microsoft.com/office/drawing/2014/main" val="2718232580"/>
                    </a:ext>
                  </a:extLst>
                </a:gridCol>
                <a:gridCol w="1402917">
                  <a:extLst>
                    <a:ext uri="{9D8B030D-6E8A-4147-A177-3AD203B41FA5}">
                      <a16:colId xmlns:a16="http://schemas.microsoft.com/office/drawing/2014/main" val="2155099337"/>
                    </a:ext>
                  </a:extLst>
                </a:gridCol>
                <a:gridCol w="956512">
                  <a:extLst>
                    <a:ext uri="{9D8B030D-6E8A-4147-A177-3AD203B41FA5}">
                      <a16:colId xmlns:a16="http://schemas.microsoft.com/office/drawing/2014/main" val="3224293378"/>
                    </a:ext>
                  </a:extLst>
                </a:gridCol>
                <a:gridCol w="6672130">
                  <a:extLst>
                    <a:ext uri="{9D8B030D-6E8A-4147-A177-3AD203B41FA5}">
                      <a16:colId xmlns:a16="http://schemas.microsoft.com/office/drawing/2014/main" val="1574946734"/>
                    </a:ext>
                  </a:extLst>
                </a:gridCol>
              </a:tblGrid>
              <a:tr h="393856">
                <a:tc>
                  <a:txBody>
                    <a:bodyPr/>
                    <a:lstStyle/>
                    <a:p>
                      <a:pPr algn="ctr">
                        <a:lnSpc>
                          <a:spcPct val="107000"/>
                        </a:lnSpc>
                        <a:spcAft>
                          <a:spcPts val="800"/>
                        </a:spcAft>
                      </a:pPr>
                      <a:r>
                        <a:rPr lang="en-IN" sz="2400" b="0" i="0" u="none" strike="noStrike" cap="none" dirty="0">
                          <a:solidFill>
                            <a:schemeClr val="tx1"/>
                          </a:solidFill>
                          <a:latin typeface="Times New Roman"/>
                          <a:ea typeface="Calibri" panose="020F0502020204030204" pitchFamily="34" charset="0"/>
                          <a:cs typeface="Times New Roman"/>
                          <a:sym typeface="Arial"/>
                        </a:rPr>
                        <a:t>Title</a:t>
                      </a:r>
                    </a:p>
                  </a:txBody>
                  <a:tcPr marL="22831" marR="22831"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lnSpc>
                          <a:spcPct val="107000"/>
                        </a:lnSpc>
                        <a:spcAft>
                          <a:spcPts val="800"/>
                        </a:spcAft>
                      </a:pPr>
                      <a:r>
                        <a:rPr lang="en-US" sz="2400" b="0" i="0" u="none" strike="noStrike" cap="none" dirty="0">
                          <a:solidFill>
                            <a:schemeClr val="tx1"/>
                          </a:solidFill>
                          <a:latin typeface="Times New Roman"/>
                          <a:ea typeface="Calibri" panose="020F0502020204030204" pitchFamily="34" charset="0"/>
                          <a:cs typeface="Times New Roman"/>
                          <a:sym typeface="Arial"/>
                        </a:rPr>
                        <a:t>Authors</a:t>
                      </a:r>
                      <a:endParaRPr lang="en-IN" sz="2400" b="0" i="0" u="none" strike="noStrike" cap="none" dirty="0">
                        <a:solidFill>
                          <a:schemeClr val="tx1"/>
                        </a:solidFill>
                        <a:latin typeface="Times New Roman"/>
                        <a:ea typeface="Calibri" panose="020F0502020204030204" pitchFamily="34" charset="0"/>
                        <a:cs typeface="Times New Roman"/>
                        <a:sym typeface="Arial"/>
                      </a:endParaRPr>
                    </a:p>
                  </a:txBody>
                  <a:tcPr marL="22831" marR="22831"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l">
                        <a:lnSpc>
                          <a:spcPct val="107000"/>
                        </a:lnSpc>
                        <a:spcAft>
                          <a:spcPts val="800"/>
                        </a:spcAft>
                      </a:pPr>
                      <a:r>
                        <a:rPr lang="en-US" sz="2400" b="0" i="0" u="none" strike="noStrike" cap="none" dirty="0">
                          <a:solidFill>
                            <a:schemeClr val="tx1"/>
                          </a:solidFill>
                          <a:latin typeface="Times New Roman"/>
                          <a:cs typeface="Times New Roman"/>
                          <a:sym typeface="Arial"/>
                        </a:rPr>
                        <a:t>Year</a:t>
                      </a:r>
                      <a:endParaRPr lang="en-IN" sz="2400" b="0" i="0" u="none" strike="noStrike" cap="none" dirty="0">
                        <a:solidFill>
                          <a:schemeClr val="tx1"/>
                        </a:solidFill>
                        <a:latin typeface="Times New Roman"/>
                        <a:ea typeface="Calibri" panose="020F0502020204030204" pitchFamily="34" charset="0"/>
                        <a:cs typeface="Times New Roman"/>
                        <a:sym typeface="Arial"/>
                      </a:endParaRPr>
                    </a:p>
                  </a:txBody>
                  <a:tcPr marL="22831" marR="22831"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lnSpc>
                          <a:spcPct val="107000"/>
                        </a:lnSpc>
                        <a:spcAft>
                          <a:spcPts val="800"/>
                        </a:spcAft>
                      </a:pPr>
                      <a:r>
                        <a:rPr lang="en-US" sz="2400" b="0" i="0" u="none" strike="noStrike" cap="none" dirty="0">
                          <a:solidFill>
                            <a:schemeClr val="tx1"/>
                          </a:solidFill>
                          <a:latin typeface="Times New Roman"/>
                          <a:cs typeface="Times New Roman"/>
                          <a:sym typeface="Arial"/>
                        </a:rPr>
                        <a:t>Key Findings</a:t>
                      </a:r>
                      <a:endParaRPr lang="en-IN" sz="2400" b="0" i="0" u="none" strike="noStrike" cap="none" dirty="0">
                        <a:solidFill>
                          <a:schemeClr val="tx1"/>
                        </a:solidFill>
                        <a:latin typeface="Times New Roman"/>
                        <a:ea typeface="Calibri" panose="020F0502020204030204" pitchFamily="34" charset="0"/>
                        <a:cs typeface="Times New Roman"/>
                        <a:sym typeface="Arial"/>
                      </a:endParaRPr>
                    </a:p>
                  </a:txBody>
                  <a:tcPr marL="22831" marR="22831"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251452856"/>
                  </a:ext>
                </a:extLst>
              </a:tr>
            </a:tbl>
          </a:graphicData>
        </a:graphic>
      </p:graphicFrame>
      <p:sp>
        <p:nvSpPr>
          <p:cNvPr id="5" name="Google Shape;135;p9">
            <a:extLst>
              <a:ext uri="{FF2B5EF4-FFF2-40B4-BE49-F238E27FC236}">
                <a16:creationId xmlns:a16="http://schemas.microsoft.com/office/drawing/2014/main" id="{D9A6D7E0-F70D-C37A-0563-D9CBD269EAAD}"/>
              </a:ext>
            </a:extLst>
          </p:cNvPr>
          <p:cNvSpPr txBox="1"/>
          <p:nvPr/>
        </p:nvSpPr>
        <p:spPr>
          <a:xfrm>
            <a:off x="2737808" y="1200205"/>
            <a:ext cx="6716383" cy="65037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entury Gothic"/>
              <a:buNone/>
            </a:pPr>
            <a:r>
              <a:rPr lang="en-IN" sz="4000" b="1" i="0" u="none" strike="noStrike" cap="none" dirty="0">
                <a:solidFill>
                  <a:schemeClr val="dk1"/>
                </a:solidFill>
                <a:latin typeface="Times New Roman"/>
                <a:ea typeface="Times New Roman"/>
                <a:cs typeface="Times New Roman"/>
                <a:sym typeface="Times New Roman"/>
              </a:rPr>
              <a:t>LITERATURE REVIEW</a:t>
            </a:r>
            <a:endParaRPr sz="4000" dirty="0"/>
          </a:p>
        </p:txBody>
      </p:sp>
    </p:spTree>
    <p:extLst>
      <p:ext uri="{BB962C8B-B14F-4D97-AF65-F5344CB8AC3E}">
        <p14:creationId xmlns:p14="http://schemas.microsoft.com/office/powerpoint/2010/main" val="424599912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63FE0-DD02-8DA0-85B0-834A055813BE}"/>
            </a:ext>
          </a:extLst>
        </p:cNvPr>
        <p:cNvGrpSpPr/>
        <p:nvPr/>
      </p:nvGrpSpPr>
      <p:grpSpPr>
        <a:xfrm>
          <a:off x="0" y="0"/>
          <a:ext cx="0" cy="0"/>
          <a:chOff x="0" y="0"/>
          <a:chExt cx="0" cy="0"/>
        </a:xfrm>
      </p:grpSpPr>
      <p:graphicFrame>
        <p:nvGraphicFramePr>
          <p:cNvPr id="2" name="Google Shape;38;g195da297051_0_29">
            <a:extLst>
              <a:ext uri="{FF2B5EF4-FFF2-40B4-BE49-F238E27FC236}">
                <a16:creationId xmlns:a16="http://schemas.microsoft.com/office/drawing/2014/main" id="{D9AE3075-B193-CAF5-0414-CE18BA242F42}"/>
              </a:ext>
            </a:extLst>
          </p:cNvPr>
          <p:cNvGraphicFramePr/>
          <p:nvPr>
            <p:extLst>
              <p:ext uri="{D42A27DB-BD31-4B8C-83A1-F6EECF244321}">
                <p14:modId xmlns:p14="http://schemas.microsoft.com/office/powerpoint/2010/main" val="2466729104"/>
              </p:ext>
            </p:extLst>
          </p:nvPr>
        </p:nvGraphicFramePr>
        <p:xfrm>
          <a:off x="219959" y="1083673"/>
          <a:ext cx="11774077" cy="5589270"/>
        </p:xfrm>
        <a:graphic>
          <a:graphicData uri="http://schemas.openxmlformats.org/drawingml/2006/table">
            <a:tbl>
              <a:tblPr>
                <a:noFill/>
              </a:tblPr>
              <a:tblGrid>
                <a:gridCol w="2758595">
                  <a:extLst>
                    <a:ext uri="{9D8B030D-6E8A-4147-A177-3AD203B41FA5}">
                      <a16:colId xmlns:a16="http://schemas.microsoft.com/office/drawing/2014/main" val="20000"/>
                    </a:ext>
                  </a:extLst>
                </a:gridCol>
                <a:gridCol w="1394460">
                  <a:extLst>
                    <a:ext uri="{9D8B030D-6E8A-4147-A177-3AD203B41FA5}">
                      <a16:colId xmlns:a16="http://schemas.microsoft.com/office/drawing/2014/main" val="20001"/>
                    </a:ext>
                  </a:extLst>
                </a:gridCol>
                <a:gridCol w="784860">
                  <a:extLst>
                    <a:ext uri="{9D8B030D-6E8A-4147-A177-3AD203B41FA5}">
                      <a16:colId xmlns:a16="http://schemas.microsoft.com/office/drawing/2014/main" val="3941244547"/>
                    </a:ext>
                  </a:extLst>
                </a:gridCol>
                <a:gridCol w="6836162">
                  <a:extLst>
                    <a:ext uri="{9D8B030D-6E8A-4147-A177-3AD203B41FA5}">
                      <a16:colId xmlns:a16="http://schemas.microsoft.com/office/drawing/2014/main" val="20002"/>
                    </a:ext>
                  </a:extLst>
                </a:gridCol>
              </a:tblGrid>
              <a:tr h="142291">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1297136"/>
                  </a:ext>
                </a:extLst>
              </a:tr>
              <a:tr h="142291">
                <a:tc>
                  <a:txBody>
                    <a:bodyPr/>
                    <a:lstStyle/>
                    <a:p>
                      <a:pPr marL="0" marR="0" lvl="0" indent="0" algn="just" rtl="0">
                        <a:lnSpc>
                          <a:spcPct val="100000"/>
                        </a:lnSpc>
                        <a:spcBef>
                          <a:spcPts val="0"/>
                        </a:spcBef>
                        <a:spcAft>
                          <a:spcPts val="0"/>
                        </a:spcAft>
                        <a:buClr>
                          <a:srgbClr val="000000"/>
                        </a:buClr>
                        <a:buFont typeface="Arial"/>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Font typeface="Arial"/>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lnSpc>
                          <a:spcPct val="100000"/>
                        </a:lnSpc>
                        <a:spcBef>
                          <a:spcPts val="0"/>
                        </a:spcBef>
                        <a:spcAft>
                          <a:spcPts val="0"/>
                        </a:spcAft>
                        <a:buClr>
                          <a:srgbClr val="000000"/>
                        </a:buClr>
                        <a:buFont typeface="Arial"/>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just" rtl="0">
                        <a:lnSpc>
                          <a:spcPct val="100000"/>
                        </a:lnSpc>
                        <a:spcBef>
                          <a:spcPts val="0"/>
                        </a:spcBef>
                        <a:spcAft>
                          <a:spcPts val="0"/>
                        </a:spcAft>
                        <a:buClr>
                          <a:srgbClr val="000000"/>
                        </a:buClr>
                        <a:buFont typeface="Arial"/>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6457134"/>
                  </a:ext>
                </a:extLst>
              </a:tr>
              <a:tr h="142291">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80614369"/>
                  </a:ext>
                </a:extLst>
              </a:tr>
              <a:tr h="142291">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6472559"/>
                  </a:ext>
                </a:extLst>
              </a:tr>
              <a:tr h="142291">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07098118"/>
                  </a:ext>
                </a:extLst>
              </a:tr>
              <a:tr h="142291">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lnSpc>
                          <a:spcPct val="115000"/>
                        </a:lnSpc>
                        <a:spcAft>
                          <a:spcPts val="800"/>
                        </a:spcAft>
                        <a:buNone/>
                      </a:pPr>
                      <a:endParaRPr lang="en-IN" sz="1300" b="1" i="0" u="none" strike="noStrike" cap="none"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sym typeface="Arial"/>
                      </a:endParaRPr>
                    </a:p>
                  </a:txBody>
                  <a:tcPr marL="68580" marR="6858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864574"/>
                  </a:ext>
                </a:extLst>
              </a:tr>
              <a:tr h="714269">
                <a:tc>
                  <a:txBody>
                    <a:bodyPr/>
                    <a:lstStyle/>
                    <a:p>
                      <a:pPr algn="ctr" rtl="0" fontAlgn="ctr">
                        <a:buNone/>
                      </a:pPr>
                      <a:r>
                        <a:rPr lang="en-US" sz="1500" dirty="0">
                          <a:effectLst/>
                          <a:latin typeface="Times New Roman" panose="02020603050405020304" pitchFamily="18" charset="0"/>
                          <a:cs typeface="Times New Roman" panose="02020603050405020304" pitchFamily="18" charset="0"/>
                        </a:rPr>
                        <a:t>Prof ARIMA: A profit-driven order identification algorithm for ARIMA models in sales forecasting</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nl-NL" sz="1500" dirty="0">
                          <a:effectLst/>
                          <a:latin typeface="Times New Roman" panose="02020603050405020304" pitchFamily="18" charset="0"/>
                          <a:cs typeface="Times New Roman" panose="02020603050405020304" pitchFamily="18" charset="0"/>
                        </a:rPr>
                        <a:t>Van Calster, T., Baesens, B., Lemahieu, W.</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a:effectLst/>
                          <a:latin typeface="Times New Roman" panose="02020603050405020304" pitchFamily="18" charset="0"/>
                          <a:cs typeface="Times New Roman" panose="02020603050405020304" pitchFamily="18" charset="0"/>
                        </a:rPr>
                        <a:t>2017</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US" sz="1500">
                          <a:effectLst/>
                          <a:latin typeface="Times New Roman" panose="02020603050405020304" pitchFamily="18" charset="0"/>
                          <a:cs typeface="Times New Roman" panose="02020603050405020304" pitchFamily="18" charset="0"/>
                        </a:rPr>
                        <a:t>Introduced profit-driven fitness function for SARIMA model selection, combining business expertise with forecast accuracy. Genetic algorithms with profit optimization significantly outperformed traditional Box-Jenkins methodology for real-world retail sales (Coca-Cola dataset). Demonstrates importance of incorporating business context into time series forecasting.</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3998116"/>
                  </a:ext>
                </a:extLst>
              </a:tr>
              <a:tr h="714269">
                <a:tc>
                  <a:txBody>
                    <a:bodyPr/>
                    <a:lstStyle/>
                    <a:p>
                      <a:pPr algn="ctr" rtl="0" fontAlgn="ctr">
                        <a:buNone/>
                      </a:pPr>
                      <a:r>
                        <a:rPr lang="en-US" sz="1500">
                          <a:effectLst/>
                          <a:latin typeface="Times New Roman" panose="02020603050405020304" pitchFamily="18" charset="0"/>
                          <a:cs typeface="Times New Roman" panose="02020603050405020304" pitchFamily="18" charset="0"/>
                        </a:rPr>
                        <a:t>Opioid sales and opioid-related poisonings in Switzerland: A descriptive population-based time-series analysis</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a:effectLst/>
                          <a:latin typeface="Times New Roman" panose="02020603050405020304" pitchFamily="18" charset="0"/>
                          <a:cs typeface="Times New Roman" panose="02020603050405020304" pitchFamily="18" charset="0"/>
                        </a:rPr>
                        <a:t>Hooijman, M.F., Martinez-De la Torre, A., Weiler, S., Burden, A.M.</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a:effectLst/>
                          <a:latin typeface="Times New Roman" panose="02020603050405020304" pitchFamily="18" charset="0"/>
                          <a:cs typeface="Times New Roman" panose="02020603050405020304" pitchFamily="18" charset="0"/>
                        </a:rPr>
                        <a:t>2022</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US" sz="1500" dirty="0">
                          <a:effectLst/>
                          <a:latin typeface="Times New Roman" panose="02020603050405020304" pitchFamily="18" charset="0"/>
                          <a:cs typeface="Times New Roman" panose="02020603050405020304" pitchFamily="18" charset="0"/>
                        </a:rPr>
                        <a:t>Population-level time series analysis (2000-2019) identified substantial increases in opioid sales driven primarily by strong opioids (oxycodone). Demonstrated effectiveness of combining poison center data with sales data for comprehensive pharmaceutical market surveillance. Linear regression models showed sales stabilization post-2016.</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5783416"/>
                  </a:ext>
                </a:extLst>
              </a:tr>
              <a:tr h="714269">
                <a:tc>
                  <a:txBody>
                    <a:bodyPr/>
                    <a:lstStyle/>
                    <a:p>
                      <a:pPr algn="ctr" rtl="0" fontAlgn="ctr">
                        <a:buNone/>
                      </a:pPr>
                      <a:r>
                        <a:rPr lang="en-US" sz="1500">
                          <a:effectLst/>
                          <a:latin typeface="Times New Roman" panose="02020603050405020304" pitchFamily="18" charset="0"/>
                          <a:cs typeface="Times New Roman" panose="02020603050405020304" pitchFamily="18" charset="0"/>
                        </a:rPr>
                        <a:t>Time-series forecasting of seasonal items sales using machine learning – A comparative analysis</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a:effectLst/>
                          <a:latin typeface="Times New Roman" panose="02020603050405020304" pitchFamily="18" charset="0"/>
                          <a:cs typeface="Times New Roman" panose="02020603050405020304" pitchFamily="18" charset="0"/>
                        </a:rPr>
                        <a:t>Ensafi, Y., Amin, S.H., Zhang, G., Shah, B.</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a:effectLst/>
                          <a:latin typeface="Times New Roman" panose="02020603050405020304" pitchFamily="18" charset="0"/>
                          <a:cs typeface="Times New Roman" panose="02020603050405020304" pitchFamily="18" charset="0"/>
                        </a:rPr>
                        <a:t>2022</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US" sz="1500" dirty="0">
                          <a:effectLst/>
                          <a:latin typeface="Times New Roman" panose="02020603050405020304" pitchFamily="18" charset="0"/>
                          <a:cs typeface="Times New Roman" panose="02020603050405020304" pitchFamily="18" charset="0"/>
                        </a:rPr>
                        <a:t>Stacked LSTM achieved superior performance (MAPE 17.34%) compared to SARIMA (28.98%), Prophet (22.62%), and CNN (22.26%) for seasonal furniture sales. Demonstrated that neural networks outperform classical methods for highly seasonal, volatile patterns. </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91981405"/>
                  </a:ext>
                </a:extLst>
              </a:tr>
              <a:tr h="714269">
                <a:tc>
                  <a:txBody>
                    <a:bodyPr/>
                    <a:lstStyle/>
                    <a:p>
                      <a:pPr algn="ctr" rtl="0" fontAlgn="ctr">
                        <a:buNone/>
                      </a:pPr>
                      <a:r>
                        <a:rPr lang="en-US" sz="1500">
                          <a:effectLst/>
                          <a:latin typeface="Times New Roman" panose="02020603050405020304" pitchFamily="18" charset="0"/>
                          <a:cs typeface="Times New Roman" panose="02020603050405020304" pitchFamily="18" charset="0"/>
                        </a:rPr>
                        <a:t>A hierarchical agglomerative clustering for product sales forecasting</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nl-NL" sz="1500">
                          <a:effectLst/>
                          <a:latin typeface="Times New Roman" panose="02020603050405020304" pitchFamily="18" charset="0"/>
                          <a:cs typeface="Times New Roman" panose="02020603050405020304" pitchFamily="18" charset="0"/>
                        </a:rPr>
                        <a:t>van Ruitenbeek, R.E., Koole, G.M., Bhulai, S.</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IN" sz="1500">
                          <a:effectLst/>
                          <a:latin typeface="Times New Roman" panose="02020603050405020304" pitchFamily="18" charset="0"/>
                          <a:cs typeface="Times New Roman" panose="02020603050405020304" pitchFamily="18" charset="0"/>
                        </a:rPr>
                        <a:t>2023</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buNone/>
                      </a:pPr>
                      <a:r>
                        <a:rPr lang="en-US" sz="1500" dirty="0">
                          <a:effectLst/>
                          <a:latin typeface="Times New Roman" panose="02020603050405020304" pitchFamily="18" charset="0"/>
                          <a:cs typeface="Times New Roman" panose="02020603050405020304" pitchFamily="18" charset="0"/>
                        </a:rPr>
                        <a:t>Hierarchical agglomerative clustering (HAC) with cosine similarity outperformed predefined business product groups for sales aggregation. Time series aggregation most beneficial for intermittent demand, high variation, and long historical data. Clustering approach reduced MASE by 1.4% compared to individual forecasting for appropriate time series types.</a:t>
                      </a:r>
                    </a:p>
                  </a:txBody>
                  <a:tcPr marL="19050" marR="1905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87372521"/>
                  </a:ext>
                </a:extLst>
              </a:tr>
            </a:tbl>
          </a:graphicData>
        </a:graphic>
      </p:graphicFrame>
      <p:graphicFrame>
        <p:nvGraphicFramePr>
          <p:cNvPr id="4" name="Table 3">
            <a:extLst>
              <a:ext uri="{FF2B5EF4-FFF2-40B4-BE49-F238E27FC236}">
                <a16:creationId xmlns:a16="http://schemas.microsoft.com/office/drawing/2014/main" id="{C48316B1-17E1-691F-8C48-BE878962BDF2}"/>
              </a:ext>
            </a:extLst>
          </p:cNvPr>
          <p:cNvGraphicFramePr>
            <a:graphicFrameLocks noGrp="1"/>
          </p:cNvGraphicFramePr>
          <p:nvPr>
            <p:extLst>
              <p:ext uri="{D42A27DB-BD31-4B8C-83A1-F6EECF244321}">
                <p14:modId xmlns:p14="http://schemas.microsoft.com/office/powerpoint/2010/main" val="7340842"/>
              </p:ext>
            </p:extLst>
          </p:nvPr>
        </p:nvGraphicFramePr>
        <p:xfrm>
          <a:off x="219958" y="1937666"/>
          <a:ext cx="11774078" cy="393856"/>
        </p:xfrm>
        <a:graphic>
          <a:graphicData uri="http://schemas.openxmlformats.org/drawingml/2006/table">
            <a:tbl>
              <a:tblPr>
                <a:noFill/>
              </a:tblPr>
              <a:tblGrid>
                <a:gridCol w="2742519">
                  <a:extLst>
                    <a:ext uri="{9D8B030D-6E8A-4147-A177-3AD203B41FA5}">
                      <a16:colId xmlns:a16="http://schemas.microsoft.com/office/drawing/2014/main" val="2718232580"/>
                    </a:ext>
                  </a:extLst>
                </a:gridCol>
                <a:gridCol w="1402917">
                  <a:extLst>
                    <a:ext uri="{9D8B030D-6E8A-4147-A177-3AD203B41FA5}">
                      <a16:colId xmlns:a16="http://schemas.microsoft.com/office/drawing/2014/main" val="2155099337"/>
                    </a:ext>
                  </a:extLst>
                </a:gridCol>
                <a:gridCol w="956512">
                  <a:extLst>
                    <a:ext uri="{9D8B030D-6E8A-4147-A177-3AD203B41FA5}">
                      <a16:colId xmlns:a16="http://schemas.microsoft.com/office/drawing/2014/main" val="3224293378"/>
                    </a:ext>
                  </a:extLst>
                </a:gridCol>
                <a:gridCol w="6672130">
                  <a:extLst>
                    <a:ext uri="{9D8B030D-6E8A-4147-A177-3AD203B41FA5}">
                      <a16:colId xmlns:a16="http://schemas.microsoft.com/office/drawing/2014/main" val="1574946734"/>
                    </a:ext>
                  </a:extLst>
                </a:gridCol>
              </a:tblGrid>
              <a:tr h="393856">
                <a:tc>
                  <a:txBody>
                    <a:bodyPr/>
                    <a:lstStyle/>
                    <a:p>
                      <a:pPr algn="ctr">
                        <a:lnSpc>
                          <a:spcPct val="107000"/>
                        </a:lnSpc>
                        <a:spcAft>
                          <a:spcPts val="800"/>
                        </a:spcAft>
                      </a:pPr>
                      <a:r>
                        <a:rPr lang="en-IN" sz="2400" b="0" i="0" u="none" strike="noStrike" cap="none" dirty="0">
                          <a:solidFill>
                            <a:schemeClr val="tx1"/>
                          </a:solidFill>
                          <a:latin typeface="Times New Roman"/>
                          <a:ea typeface="Calibri" panose="020F0502020204030204" pitchFamily="34" charset="0"/>
                          <a:cs typeface="Times New Roman"/>
                          <a:sym typeface="Arial"/>
                        </a:rPr>
                        <a:t>Title</a:t>
                      </a:r>
                    </a:p>
                  </a:txBody>
                  <a:tcPr marL="22831" marR="22831"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lnSpc>
                          <a:spcPct val="107000"/>
                        </a:lnSpc>
                        <a:spcAft>
                          <a:spcPts val="800"/>
                        </a:spcAft>
                      </a:pPr>
                      <a:r>
                        <a:rPr lang="en-US" sz="2400" b="0" i="0" u="none" strike="noStrike" cap="none" dirty="0">
                          <a:solidFill>
                            <a:schemeClr val="tx1"/>
                          </a:solidFill>
                          <a:latin typeface="Times New Roman"/>
                          <a:ea typeface="Calibri" panose="020F0502020204030204" pitchFamily="34" charset="0"/>
                          <a:cs typeface="Times New Roman"/>
                          <a:sym typeface="Arial"/>
                        </a:rPr>
                        <a:t>Authors</a:t>
                      </a:r>
                      <a:endParaRPr lang="en-IN" sz="2400" b="0" i="0" u="none" strike="noStrike" cap="none" dirty="0">
                        <a:solidFill>
                          <a:schemeClr val="tx1"/>
                        </a:solidFill>
                        <a:latin typeface="Times New Roman"/>
                        <a:ea typeface="Calibri" panose="020F0502020204030204" pitchFamily="34" charset="0"/>
                        <a:cs typeface="Times New Roman"/>
                        <a:sym typeface="Arial"/>
                      </a:endParaRPr>
                    </a:p>
                  </a:txBody>
                  <a:tcPr marL="22831" marR="22831"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l">
                        <a:lnSpc>
                          <a:spcPct val="107000"/>
                        </a:lnSpc>
                        <a:spcAft>
                          <a:spcPts val="800"/>
                        </a:spcAft>
                      </a:pPr>
                      <a:r>
                        <a:rPr lang="en-US" sz="2400" b="0" i="0" u="none" strike="noStrike" cap="none" dirty="0">
                          <a:solidFill>
                            <a:schemeClr val="tx1"/>
                          </a:solidFill>
                          <a:latin typeface="Times New Roman"/>
                          <a:cs typeface="Times New Roman"/>
                          <a:sym typeface="Arial"/>
                        </a:rPr>
                        <a:t>Year</a:t>
                      </a:r>
                      <a:endParaRPr lang="en-IN" sz="2400" b="0" i="0" u="none" strike="noStrike" cap="none" dirty="0">
                        <a:solidFill>
                          <a:schemeClr val="tx1"/>
                        </a:solidFill>
                        <a:latin typeface="Times New Roman"/>
                        <a:ea typeface="Calibri" panose="020F0502020204030204" pitchFamily="34" charset="0"/>
                        <a:cs typeface="Times New Roman"/>
                        <a:sym typeface="Arial"/>
                      </a:endParaRPr>
                    </a:p>
                  </a:txBody>
                  <a:tcPr marL="22831" marR="22831"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algn="ctr">
                        <a:lnSpc>
                          <a:spcPct val="107000"/>
                        </a:lnSpc>
                        <a:spcAft>
                          <a:spcPts val="800"/>
                        </a:spcAft>
                      </a:pPr>
                      <a:r>
                        <a:rPr lang="en-US" sz="2400" b="0" i="0" u="none" strike="noStrike" cap="none" dirty="0">
                          <a:solidFill>
                            <a:schemeClr val="tx1"/>
                          </a:solidFill>
                          <a:latin typeface="Times New Roman"/>
                          <a:cs typeface="Times New Roman"/>
                          <a:sym typeface="Arial"/>
                        </a:rPr>
                        <a:t>Key Findings</a:t>
                      </a:r>
                      <a:endParaRPr lang="en-IN" sz="2400" b="0" i="0" u="none" strike="noStrike" cap="none" dirty="0">
                        <a:solidFill>
                          <a:schemeClr val="tx1"/>
                        </a:solidFill>
                        <a:latin typeface="Times New Roman"/>
                        <a:ea typeface="Calibri" panose="020F0502020204030204" pitchFamily="34" charset="0"/>
                        <a:cs typeface="Times New Roman"/>
                        <a:sym typeface="Arial"/>
                      </a:endParaRPr>
                    </a:p>
                  </a:txBody>
                  <a:tcPr marL="22831" marR="22831"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3251452856"/>
                  </a:ext>
                </a:extLst>
              </a:tr>
            </a:tbl>
          </a:graphicData>
        </a:graphic>
      </p:graphicFrame>
      <p:sp>
        <p:nvSpPr>
          <p:cNvPr id="5" name="Google Shape;135;p9">
            <a:extLst>
              <a:ext uri="{FF2B5EF4-FFF2-40B4-BE49-F238E27FC236}">
                <a16:creationId xmlns:a16="http://schemas.microsoft.com/office/drawing/2014/main" id="{32ED7FAA-2339-B81B-79CD-0B47331F6ED2}"/>
              </a:ext>
            </a:extLst>
          </p:cNvPr>
          <p:cNvSpPr txBox="1"/>
          <p:nvPr/>
        </p:nvSpPr>
        <p:spPr>
          <a:xfrm>
            <a:off x="2737808" y="1200205"/>
            <a:ext cx="6716383" cy="65037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entury Gothic"/>
              <a:buNone/>
            </a:pPr>
            <a:r>
              <a:rPr lang="en-IN" sz="4000" b="1" i="0" u="none" strike="noStrike" cap="none" dirty="0">
                <a:solidFill>
                  <a:schemeClr val="dk1"/>
                </a:solidFill>
                <a:latin typeface="Times New Roman"/>
                <a:ea typeface="Times New Roman"/>
                <a:cs typeface="Times New Roman"/>
                <a:sym typeface="Times New Roman"/>
              </a:rPr>
              <a:t>LITERATURE REVIEW</a:t>
            </a:r>
            <a:endParaRPr sz="4000" dirty="0"/>
          </a:p>
        </p:txBody>
      </p:sp>
    </p:spTree>
    <p:extLst>
      <p:ext uri="{BB962C8B-B14F-4D97-AF65-F5344CB8AC3E}">
        <p14:creationId xmlns:p14="http://schemas.microsoft.com/office/powerpoint/2010/main" val="245007599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88BA6EDE-C571-BA29-C784-203476E90F91}"/>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CBAFCD04-3C4D-716B-601C-EB48426FDB5C}"/>
              </a:ext>
            </a:extLst>
          </p:cNvPr>
          <p:cNvSpPr txBox="1"/>
          <p:nvPr/>
        </p:nvSpPr>
        <p:spPr>
          <a:xfrm>
            <a:off x="1817914" y="1375431"/>
            <a:ext cx="8010430" cy="65037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entury Gothic"/>
              <a:buNone/>
            </a:pPr>
            <a:r>
              <a:rPr lang="en-IN" sz="4000" b="1" dirty="0">
                <a:latin typeface="Times New Roman" panose="02020603050405020304" pitchFamily="18" charset="0"/>
                <a:cs typeface="Times New Roman" panose="02020603050405020304" pitchFamily="18" charset="0"/>
              </a:rPr>
              <a:t>MATHEMATICAL FORMULA</a:t>
            </a:r>
            <a:endParaRPr sz="40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6FD9817-AB39-3806-5640-95460048E30B}"/>
              </a:ext>
            </a:extLst>
          </p:cNvPr>
          <p:cNvPicPr>
            <a:picLocks noChangeAspect="1"/>
          </p:cNvPicPr>
          <p:nvPr/>
        </p:nvPicPr>
        <p:blipFill>
          <a:blip r:embed="rId3"/>
          <a:stretch>
            <a:fillRect/>
          </a:stretch>
        </p:blipFill>
        <p:spPr>
          <a:xfrm>
            <a:off x="102438" y="2156434"/>
            <a:ext cx="4522435" cy="4528457"/>
          </a:xfrm>
          <a:prstGeom prst="rect">
            <a:avLst/>
          </a:prstGeom>
        </p:spPr>
      </p:pic>
      <p:pic>
        <p:nvPicPr>
          <p:cNvPr id="12" name="Picture 11">
            <a:extLst>
              <a:ext uri="{FF2B5EF4-FFF2-40B4-BE49-F238E27FC236}">
                <a16:creationId xmlns:a16="http://schemas.microsoft.com/office/drawing/2014/main" id="{7E83C3E4-D1FA-5E1E-1C6B-3F80A00F6ADA}"/>
              </a:ext>
            </a:extLst>
          </p:cNvPr>
          <p:cNvPicPr>
            <a:picLocks noChangeAspect="1"/>
          </p:cNvPicPr>
          <p:nvPr/>
        </p:nvPicPr>
        <p:blipFill>
          <a:blip r:embed="rId4"/>
          <a:srcRect t="4007"/>
          <a:stretch>
            <a:fillRect/>
          </a:stretch>
        </p:blipFill>
        <p:spPr>
          <a:xfrm>
            <a:off x="4468681" y="2156434"/>
            <a:ext cx="7620881" cy="3231994"/>
          </a:xfrm>
          <a:prstGeom prst="rect">
            <a:avLst/>
          </a:prstGeom>
        </p:spPr>
      </p:pic>
    </p:spTree>
    <p:extLst>
      <p:ext uri="{BB962C8B-B14F-4D97-AF65-F5344CB8AC3E}">
        <p14:creationId xmlns:p14="http://schemas.microsoft.com/office/powerpoint/2010/main" val="409144024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B3FD7015-4FF4-1B85-A5B2-DA35D18B6EF6}"/>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D57DA4A8-9A64-6C34-4DAB-D735A4CFFFB7}"/>
              </a:ext>
            </a:extLst>
          </p:cNvPr>
          <p:cNvSpPr txBox="1"/>
          <p:nvPr/>
        </p:nvSpPr>
        <p:spPr>
          <a:xfrm>
            <a:off x="2090781" y="1194676"/>
            <a:ext cx="8010430" cy="650375"/>
          </a:xfrm>
          <a:prstGeom prst="rect">
            <a:avLst/>
          </a:prstGeom>
          <a:noFill/>
          <a:ln>
            <a:noFill/>
          </a:ln>
        </p:spPr>
        <p:txBody>
          <a:bodyPr spcFirstLastPara="1" wrap="square" lIns="91425" tIns="45700" rIns="91425" bIns="45700" anchor="ctr" anchorCtr="0">
            <a:noAutofit/>
          </a:bodyPr>
          <a:lstStyle/>
          <a:p>
            <a:pPr lvl="0" algn="ctr">
              <a:buClr>
                <a:schemeClr val="dk1"/>
              </a:buClr>
              <a:buSzPts val="4400"/>
            </a:pPr>
            <a:r>
              <a:rPr lang="en-IN" sz="4000" b="1" dirty="0">
                <a:latin typeface="Times New Roman" panose="02020603050405020304" pitchFamily="18" charset="0"/>
                <a:cs typeface="Times New Roman" panose="02020603050405020304" pitchFamily="18" charset="0"/>
              </a:rPr>
              <a:t>RESEARCH METHODOLOGY</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29FD9B92-CDB3-6EF2-9A3F-04928FC642DD}"/>
              </a:ext>
            </a:extLst>
          </p:cNvPr>
          <p:cNvSpPr txBox="1"/>
          <p:nvPr/>
        </p:nvSpPr>
        <p:spPr>
          <a:xfrm>
            <a:off x="478389" y="1845051"/>
            <a:ext cx="11235213" cy="4647386"/>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Data Preprocessing:</a:t>
            </a:r>
            <a:endParaRPr lang="en-US" sz="2000" dirty="0">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Missing value identification and treatment (linear interpolation for gaps ≤2 years)</a:t>
            </a:r>
          </a:p>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type validation and temporal aggregation</a:t>
            </a:r>
          </a:p>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Consistency checks and quality assurance protocols</a:t>
            </a:r>
          </a:p>
          <a:p>
            <a:pPr fontAlgn="base"/>
            <a:endParaRPr lang="en-US" sz="18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Analytical Techniques:</a:t>
            </a:r>
            <a:r>
              <a:rPr lang="en-IN" sz="2000" dirty="0">
                <a:latin typeface="Times New Roman" panose="02020603050405020304" pitchFamily="18" charset="0"/>
                <a:cs typeface="Times New Roman" panose="02020603050405020304" pitchFamily="18" charset="0"/>
              </a:rPr>
              <a:t> Exploratory Analysis, Forecasting Models, Regression Analysis, Causal Inference</a:t>
            </a:r>
          </a:p>
          <a:p>
            <a:endParaRPr lang="en-IN" sz="18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Validation Strategy:</a:t>
            </a:r>
            <a:endParaRPr lang="en-IN" sz="2000" dirty="0">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Training period: 2010-2021 (12 years)</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Test period: 2022-2024 (3 years holdout)</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Evaluation metrics: RMSE, MAE, MAPE</a:t>
            </a:r>
          </a:p>
          <a:p>
            <a:pPr fontAlgn="base"/>
            <a:endParaRPr lang="en-IN" sz="18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Software Environment:</a:t>
            </a:r>
            <a:endParaRPr lang="en-IN" sz="2000" dirty="0">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 (version 4.x): forecast, prophet, stats, ggplot2 packages</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Microsoft Excel: Data inspection and quality checks</a:t>
            </a:r>
          </a:p>
        </p:txBody>
      </p:sp>
    </p:spTree>
    <p:extLst>
      <p:ext uri="{BB962C8B-B14F-4D97-AF65-F5344CB8AC3E}">
        <p14:creationId xmlns:p14="http://schemas.microsoft.com/office/powerpoint/2010/main" val="304876526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3C36E24D-CD48-993D-9296-C40DDD7A4288}"/>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4122DE72-474A-328E-CAE6-6480D04507DD}"/>
              </a:ext>
            </a:extLst>
          </p:cNvPr>
          <p:cNvSpPr txBox="1"/>
          <p:nvPr/>
        </p:nvSpPr>
        <p:spPr>
          <a:xfrm>
            <a:off x="3490892" y="1237208"/>
            <a:ext cx="5210207" cy="650375"/>
          </a:xfrm>
          <a:prstGeom prst="rect">
            <a:avLst/>
          </a:prstGeom>
          <a:noFill/>
          <a:ln>
            <a:noFill/>
          </a:ln>
        </p:spPr>
        <p:txBody>
          <a:bodyPr spcFirstLastPara="1" wrap="square" lIns="91425" tIns="45700" rIns="91425" bIns="45700" anchor="ctr" anchorCtr="0">
            <a:noAutofit/>
          </a:bodyPr>
          <a:lstStyle/>
          <a:p>
            <a:pPr lvl="0" algn="ctr">
              <a:buClr>
                <a:schemeClr val="dk1"/>
              </a:buClr>
              <a:buSzPts val="4400"/>
            </a:pPr>
            <a:r>
              <a:rPr lang="en-IN" sz="4000" b="1" dirty="0">
                <a:latin typeface="Times New Roman" panose="02020603050405020304" pitchFamily="18" charset="0"/>
                <a:cs typeface="Times New Roman" panose="02020603050405020304" pitchFamily="18" charset="0"/>
              </a:rPr>
              <a:t>DATA COLLECTION</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F1267BAE-B87D-3DA1-F11D-2138D0701F8F}"/>
              </a:ext>
            </a:extLst>
          </p:cNvPr>
          <p:cNvSpPr txBox="1"/>
          <p:nvPr/>
        </p:nvSpPr>
        <p:spPr>
          <a:xfrm>
            <a:off x="478388" y="2055413"/>
            <a:ext cx="11235213" cy="4401164"/>
          </a:xfrm>
          <a:prstGeom prst="rect">
            <a:avLst/>
          </a:prstGeom>
          <a:noFill/>
          <a:ln>
            <a:noFill/>
          </a:ln>
        </p:spPr>
        <p:txBody>
          <a:bodyPr spcFirstLastPara="1" wrap="square" lIns="91425" tIns="45700" rIns="91425" bIns="45700" anchor="t" anchorCtr="0">
            <a:spAutoFit/>
          </a:bodyPr>
          <a:lstStyle/>
          <a:p>
            <a:r>
              <a:rPr lang="en-IN" sz="2000" b="1" dirty="0">
                <a:latin typeface="Times New Roman" panose="02020603050405020304" pitchFamily="18" charset="0"/>
                <a:cs typeface="Times New Roman" panose="02020603050405020304" pitchFamily="18" charset="0"/>
              </a:rPr>
              <a:t>Dataset 1: Cross-Country Pharmaceutical Sales</a:t>
            </a:r>
            <a:endParaRPr lang="en-IN" sz="2000" dirty="0">
              <a:latin typeface="Times New Roman" panose="02020603050405020304" pitchFamily="18" charset="0"/>
              <a:cs typeface="Times New Roman" panose="02020603050405020304" pitchFamily="18" charset="0"/>
            </a:endParaRPr>
          </a:p>
          <a:p>
            <a:pPr marL="285750" indent="-285750" fontAlgn="base">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Temporal Coverage:</a:t>
            </a:r>
            <a:r>
              <a:rPr lang="en-IN" sz="2000" dirty="0">
                <a:latin typeface="Times New Roman" panose="02020603050405020304" pitchFamily="18" charset="0"/>
                <a:cs typeface="Times New Roman" panose="02020603050405020304" pitchFamily="18" charset="0"/>
              </a:rPr>
              <a:t> 2010-2024 (15 years)</a:t>
            </a:r>
          </a:p>
          <a:p>
            <a:pPr marL="285750" indent="-285750" fontAlgn="base">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Geographic Scope:</a:t>
            </a:r>
            <a:r>
              <a:rPr lang="en-IN" sz="2000" dirty="0">
                <a:latin typeface="Times New Roman" panose="02020603050405020304" pitchFamily="18" charset="0"/>
                <a:cs typeface="Times New Roman" panose="02020603050405020304" pitchFamily="18" charset="0"/>
              </a:rPr>
              <a:t> Multiple developed economies</a:t>
            </a:r>
          </a:p>
          <a:p>
            <a:pPr marL="285750" indent="-285750" fontAlgn="base">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Key Variables:</a:t>
            </a:r>
            <a:r>
              <a:rPr lang="en-IN" sz="2000" dirty="0">
                <a:latin typeface="Times New Roman" panose="02020603050405020304" pitchFamily="18" charset="0"/>
                <a:cs typeface="Times New Roman" panose="02020603050405020304" pitchFamily="18" charset="0"/>
              </a:rPr>
              <a:t> Annual per-capita antidepressant sales (USD)</a:t>
            </a:r>
          </a:p>
          <a:p>
            <a:pPr marL="285750" indent="-285750" fontAlgn="base">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Standardization:</a:t>
            </a:r>
            <a:r>
              <a:rPr lang="en-IN" sz="2000" dirty="0">
                <a:latin typeface="Times New Roman" panose="02020603050405020304" pitchFamily="18" charset="0"/>
                <a:cs typeface="Times New Roman" panose="02020603050405020304" pitchFamily="18" charset="0"/>
              </a:rPr>
              <a:t> Purchasing Power Parity (PPP) adjustments applied</a:t>
            </a:r>
          </a:p>
          <a:p>
            <a:pPr marL="285750" indent="-285750" fontAlgn="base">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Dataset 2: N06A Antidepressants Claims Data (United States)</a:t>
            </a:r>
            <a:endParaRPr lang="en-IN" sz="2000" dirty="0">
              <a:latin typeface="Times New Roman" panose="02020603050405020304" pitchFamily="18" charset="0"/>
              <a:cs typeface="Times New Roman" panose="02020603050405020304" pitchFamily="18" charset="0"/>
            </a:endParaRPr>
          </a:p>
          <a:p>
            <a:pPr marL="285750" indent="-285750" fontAlgn="base">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Temporal Coverage:</a:t>
            </a:r>
            <a:r>
              <a:rPr lang="en-IN" sz="2000" dirty="0">
                <a:latin typeface="Times New Roman" panose="02020603050405020304" pitchFamily="18" charset="0"/>
                <a:cs typeface="Times New Roman" panose="02020603050405020304" pitchFamily="18" charset="0"/>
              </a:rPr>
              <a:t> 2019-2023 (5 years)</a:t>
            </a:r>
          </a:p>
          <a:p>
            <a:pPr marL="285750" indent="-285750" fontAlgn="base">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Classification:</a:t>
            </a:r>
            <a:r>
              <a:rPr lang="en-IN" sz="2000" dirty="0">
                <a:latin typeface="Times New Roman" panose="02020603050405020304" pitchFamily="18" charset="0"/>
                <a:cs typeface="Times New Roman" panose="02020603050405020304" pitchFamily="18" charset="0"/>
              </a:rPr>
              <a:t> ATC code N06A (Antidepressants therapeutic class)</a:t>
            </a:r>
          </a:p>
          <a:p>
            <a:pPr marL="285750" indent="-285750" fontAlgn="base">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Key Variables: </a:t>
            </a:r>
            <a:r>
              <a:rPr lang="en-IN" sz="2000" dirty="0">
                <a:latin typeface="Times New Roman" panose="02020603050405020304" pitchFamily="18" charset="0"/>
                <a:cs typeface="Times New Roman" panose="02020603050405020304" pitchFamily="18" charset="0"/>
              </a:rPr>
              <a:t>Total spending (USD), Total claims (prescription counts), Total dosage units dispensed, Manufacturer information, Drug names and beneficiary counts.</a:t>
            </a:r>
          </a:p>
          <a:p>
            <a:pPr marL="285750" indent="-285750" fontAlgn="base">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fontAlgn="base"/>
            <a:r>
              <a:rPr lang="en-US" sz="2000" b="1" dirty="0">
                <a:latin typeface="Times New Roman" panose="02020603050405020304" pitchFamily="18" charset="0"/>
                <a:cs typeface="Times New Roman" panose="02020603050405020304" pitchFamily="18" charset="0"/>
              </a:rPr>
              <a:t>Note: </a:t>
            </a:r>
            <a:r>
              <a:rPr lang="en-US" sz="2000" dirty="0">
                <a:latin typeface="Times New Roman" panose="02020603050405020304" pitchFamily="18" charset="0"/>
                <a:cs typeface="Times New Roman" panose="02020603050405020304" pitchFamily="18" charset="0"/>
              </a:rPr>
              <a:t>The datasets were validated and found to be compliant with the requisite assumptions for time series forecasting.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262063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3DF64E15-5046-36E7-5746-6DC3C97FB773}"/>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9604F42E-C0A2-0460-343B-6A1DE0E80866}"/>
              </a:ext>
            </a:extLst>
          </p:cNvPr>
          <p:cNvSpPr txBox="1"/>
          <p:nvPr/>
        </p:nvSpPr>
        <p:spPr>
          <a:xfrm>
            <a:off x="1923565" y="1269106"/>
            <a:ext cx="8344858" cy="634122"/>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IN" sz="4000" b="1" dirty="0">
                <a:latin typeface="Times New Roman" panose="02020603050405020304" pitchFamily="18" charset="0"/>
                <a:cs typeface="Times New Roman" panose="02020603050405020304" pitchFamily="18" charset="0"/>
              </a:rPr>
              <a:t>Objective 1 – CAGR Analysis Results</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22E8BB87-AB66-F443-6497-CFCA87DD85FA}"/>
              </a:ext>
            </a:extLst>
          </p:cNvPr>
          <p:cNvSpPr txBox="1"/>
          <p:nvPr/>
        </p:nvSpPr>
        <p:spPr>
          <a:xfrm>
            <a:off x="2406052" y="1903228"/>
            <a:ext cx="7239583" cy="1077178"/>
          </a:xfrm>
          <a:prstGeom prst="rect">
            <a:avLst/>
          </a:prstGeom>
          <a:noFill/>
          <a:ln>
            <a:noFill/>
          </a:ln>
        </p:spPr>
        <p:txBody>
          <a:bodyPr spcFirstLastPara="1" wrap="square" lIns="91425" tIns="45700" rIns="91425" bIns="45700" anchor="t" anchorCtr="0">
            <a:spAutoFit/>
          </a:bodyPr>
          <a:lstStyle/>
          <a:p>
            <a:r>
              <a:rPr lang="en-US" sz="2400" b="1" dirty="0">
                <a:latin typeface="Times New Roman" panose="02020603050405020304" pitchFamily="18" charset="0"/>
                <a:cs typeface="Times New Roman" panose="02020603050405020304" pitchFamily="18" charset="0"/>
              </a:rPr>
              <a:t>Exploratory Data Analysis: Fastest-Growing Markets</a:t>
            </a:r>
            <a:endParaRPr lang="en-IN" sz="24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3EBAB0AC-126B-2A97-14A0-CF7D9FC6174F}"/>
              </a:ext>
            </a:extLst>
          </p:cNvPr>
          <p:cNvGraphicFramePr>
            <a:graphicFrameLocks noGrp="1"/>
          </p:cNvGraphicFramePr>
          <p:nvPr>
            <p:extLst>
              <p:ext uri="{D42A27DB-BD31-4B8C-83A1-F6EECF244321}">
                <p14:modId xmlns:p14="http://schemas.microsoft.com/office/powerpoint/2010/main" val="577310452"/>
              </p:ext>
            </p:extLst>
          </p:nvPr>
        </p:nvGraphicFramePr>
        <p:xfrm>
          <a:off x="3150600" y="3524750"/>
          <a:ext cx="8333830" cy="2632041"/>
        </p:xfrm>
        <a:graphic>
          <a:graphicData uri="http://schemas.openxmlformats.org/drawingml/2006/table">
            <a:tbl>
              <a:tblPr/>
              <a:tblGrid>
                <a:gridCol w="2380842">
                  <a:extLst>
                    <a:ext uri="{9D8B030D-6E8A-4147-A177-3AD203B41FA5}">
                      <a16:colId xmlns:a16="http://schemas.microsoft.com/office/drawing/2014/main" val="3875808737"/>
                    </a:ext>
                  </a:extLst>
                </a:gridCol>
                <a:gridCol w="1926830">
                  <a:extLst>
                    <a:ext uri="{9D8B030D-6E8A-4147-A177-3AD203B41FA5}">
                      <a16:colId xmlns:a16="http://schemas.microsoft.com/office/drawing/2014/main" val="3914724155"/>
                    </a:ext>
                  </a:extLst>
                </a:gridCol>
                <a:gridCol w="2013079">
                  <a:extLst>
                    <a:ext uri="{9D8B030D-6E8A-4147-A177-3AD203B41FA5}">
                      <a16:colId xmlns:a16="http://schemas.microsoft.com/office/drawing/2014/main" val="1466367683"/>
                    </a:ext>
                  </a:extLst>
                </a:gridCol>
                <a:gridCol w="2013079">
                  <a:extLst>
                    <a:ext uri="{9D8B030D-6E8A-4147-A177-3AD203B41FA5}">
                      <a16:colId xmlns:a16="http://schemas.microsoft.com/office/drawing/2014/main" val="1471291441"/>
                    </a:ext>
                  </a:extLst>
                </a:gridCol>
              </a:tblGrid>
              <a:tr h="343358">
                <a:tc>
                  <a:txBody>
                    <a:bodyPr/>
                    <a:lstStyle/>
                    <a:p>
                      <a:pPr algn="ctr" rtl="0" fontAlgn="t">
                        <a:buNone/>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Country</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1" i="0" u="none" strike="noStrike">
                          <a:solidFill>
                            <a:srgbClr val="000000"/>
                          </a:solidFill>
                          <a:effectLst/>
                          <a:latin typeface="Times New Roman" panose="02020603050405020304" pitchFamily="18" charset="0"/>
                          <a:cs typeface="Times New Roman" panose="02020603050405020304" pitchFamily="18" charset="0"/>
                        </a:rPr>
                        <a:t>Start Value</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1" i="0" u="none" strike="noStrike">
                          <a:solidFill>
                            <a:srgbClr val="000000"/>
                          </a:solidFill>
                          <a:effectLst/>
                          <a:latin typeface="Times New Roman" panose="02020603050405020304" pitchFamily="18" charset="0"/>
                          <a:cs typeface="Times New Roman" panose="02020603050405020304" pitchFamily="18" charset="0"/>
                        </a:rPr>
                        <a:t>End Value</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1" i="0" u="none" strike="noStrike">
                          <a:solidFill>
                            <a:srgbClr val="000000"/>
                          </a:solidFill>
                          <a:effectLst/>
                          <a:latin typeface="Times New Roman" panose="02020603050405020304" pitchFamily="18" charset="0"/>
                          <a:cs typeface="Times New Roman" panose="02020603050405020304" pitchFamily="18" charset="0"/>
                        </a:rPr>
                        <a:t>CAGR</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2967294"/>
                  </a:ext>
                </a:extLst>
              </a:tr>
              <a:tr h="343358">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Latvia</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2.2</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5.8</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7.17%</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2574293"/>
                  </a:ext>
                </a:extLst>
              </a:tr>
              <a:tr h="343358">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Chile</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5.2</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12.1</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6.22%</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815399"/>
                  </a:ext>
                </a:extLst>
              </a:tr>
              <a:tr h="343358">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United States</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35.5</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65.8</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4.51%</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7980922"/>
                  </a:ext>
                </a:extLst>
              </a:tr>
              <a:tr h="343358">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Estonia</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4.4</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8.1</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4.46%</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0051395"/>
                  </a:ext>
                </a:extLst>
              </a:tr>
              <a:tr h="473041">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United Kingdom</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23.1</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41.0</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t">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4.18%</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3140312"/>
                  </a:ext>
                </a:extLst>
              </a:tr>
            </a:tbl>
          </a:graphicData>
        </a:graphic>
      </p:graphicFrame>
      <p:sp>
        <p:nvSpPr>
          <p:cNvPr id="5" name="Rectangle 2">
            <a:extLst>
              <a:ext uri="{FF2B5EF4-FFF2-40B4-BE49-F238E27FC236}">
                <a16:creationId xmlns:a16="http://schemas.microsoft.com/office/drawing/2014/main" id="{3CB95B68-971D-E759-CC51-402BD83C91AA}"/>
              </a:ext>
            </a:extLst>
          </p:cNvPr>
          <p:cNvSpPr>
            <a:spLocks noChangeArrowheads="1"/>
          </p:cNvSpPr>
          <p:nvPr/>
        </p:nvSpPr>
        <p:spPr bwMode="auto">
          <a:xfrm>
            <a:off x="478388" y="2594002"/>
            <a:ext cx="1109491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Methodology:</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Compound Annual Growth Rate calculated for each country to identify dynamic markets with sustained growth momentum</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Key Findings: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Table:</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Top 5 Countries by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CAGR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850174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0E8FA68C-C742-5425-1BB9-20A7C8A0DEF7}"/>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3D2949D0-14B7-5E4A-2733-2C120F6EF4E9}"/>
              </a:ext>
            </a:extLst>
          </p:cNvPr>
          <p:cNvSpPr txBox="1"/>
          <p:nvPr/>
        </p:nvSpPr>
        <p:spPr>
          <a:xfrm>
            <a:off x="1923565" y="1269106"/>
            <a:ext cx="8344858" cy="634122"/>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IN" sz="4000" b="1" dirty="0">
                <a:latin typeface="Times New Roman" panose="02020603050405020304" pitchFamily="18" charset="0"/>
                <a:cs typeface="Times New Roman" panose="02020603050405020304" pitchFamily="18" charset="0"/>
              </a:rPr>
              <a:t>Objective 1 – CAGR Analysis Results</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51633B4F-1320-7B34-E50D-C097E5E90813}"/>
              </a:ext>
            </a:extLst>
          </p:cNvPr>
          <p:cNvSpPr txBox="1"/>
          <p:nvPr/>
        </p:nvSpPr>
        <p:spPr>
          <a:xfrm>
            <a:off x="2394559" y="1854282"/>
            <a:ext cx="7402869" cy="1077178"/>
          </a:xfrm>
          <a:prstGeom prst="rect">
            <a:avLst/>
          </a:prstGeom>
          <a:noFill/>
          <a:ln>
            <a:noFill/>
          </a:ln>
        </p:spPr>
        <p:txBody>
          <a:bodyPr spcFirstLastPara="1" wrap="square" lIns="91425" tIns="45700" rIns="91425" bIns="45700" anchor="t" anchorCtr="0">
            <a:spAutoFit/>
          </a:bodyPr>
          <a:lstStyle/>
          <a:p>
            <a:r>
              <a:rPr lang="en-US" sz="2400" b="1" dirty="0">
                <a:latin typeface="Times New Roman" panose="02020603050405020304" pitchFamily="18" charset="0"/>
                <a:cs typeface="Times New Roman" panose="02020603050405020304" pitchFamily="18" charset="0"/>
              </a:rPr>
              <a:t>Exploratory Data Analysis: Fastest-Growing Markets</a:t>
            </a:r>
            <a:endParaRPr lang="en-IN" sz="24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C9853E83-16F2-8DB3-533D-91FE547A53C7}"/>
              </a:ext>
            </a:extLst>
          </p:cNvPr>
          <p:cNvSpPr>
            <a:spLocks noChangeArrowheads="1"/>
          </p:cNvSpPr>
          <p:nvPr/>
        </p:nvSpPr>
        <p:spPr bwMode="auto">
          <a:xfrm>
            <a:off x="478388" y="3018545"/>
            <a:ext cx="500077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Interpretation:</a:t>
            </a:r>
            <a:endParaRPr lang="en-US" sz="2000" dirty="0">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Latvia and Chile exhibit highest growth rates despite lower absolute spending levels</a:t>
            </a:r>
          </a:p>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United States demonstrates robust growth with highest absolute per-capita spending</a:t>
            </a:r>
          </a:p>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UK and Canada show strong sustained expansion (mature market development)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CA265B5-7EAC-620B-5FBA-7BF36E5CC4EA}"/>
              </a:ext>
            </a:extLst>
          </p:cNvPr>
          <p:cNvPicPr>
            <a:picLocks noChangeAspect="1"/>
          </p:cNvPicPr>
          <p:nvPr/>
        </p:nvPicPr>
        <p:blipFill rotWithShape="1">
          <a:blip r:embed="rId3">
            <a:extLst>
              <a:ext uri="{28A0092B-C50C-407E-A947-70E740481C1C}">
                <a14:useLocalDpi xmlns:a14="http://schemas.microsoft.com/office/drawing/2010/main" val="0"/>
              </a:ext>
            </a:extLst>
          </a:blip>
          <a:srcRect l="1130" t="1731" r="1028"/>
          <a:stretch>
            <a:fillRect/>
          </a:stretch>
        </p:blipFill>
        <p:spPr bwMode="auto">
          <a:xfrm>
            <a:off x="5932708" y="2931460"/>
            <a:ext cx="6006538" cy="3368770"/>
          </a:xfrm>
          <a:prstGeom prst="rect">
            <a:avLst/>
          </a:prstGeom>
          <a:noFill/>
          <a:ln>
            <a:solidFill>
              <a:schemeClr val="tx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84438630"/>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F5623D02-A6FD-22E6-5775-6EE8AB46DDB2}"/>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6131419E-3CA4-6F5A-1AA4-1A92A825E07A}"/>
              </a:ext>
            </a:extLst>
          </p:cNvPr>
          <p:cNvSpPr txBox="1"/>
          <p:nvPr/>
        </p:nvSpPr>
        <p:spPr>
          <a:xfrm>
            <a:off x="1546662" y="1241509"/>
            <a:ext cx="9098663" cy="634122"/>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IN" sz="4000" b="1" dirty="0">
                <a:latin typeface="Times New Roman" panose="02020603050405020304" pitchFamily="18" charset="0"/>
                <a:cs typeface="Times New Roman" panose="02020603050405020304" pitchFamily="18" charset="0"/>
              </a:rPr>
              <a:t>Objective 1 – Time Series Decomposition</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9DBB3AAC-660C-E3FE-12E9-B056F701D2A6}"/>
              </a:ext>
            </a:extLst>
          </p:cNvPr>
          <p:cNvSpPr txBox="1"/>
          <p:nvPr/>
        </p:nvSpPr>
        <p:spPr>
          <a:xfrm>
            <a:off x="3244380" y="1812596"/>
            <a:ext cx="5703226" cy="461624"/>
          </a:xfrm>
          <a:prstGeom prst="rect">
            <a:avLst/>
          </a:prstGeom>
          <a:noFill/>
          <a:ln>
            <a:noFill/>
          </a:ln>
        </p:spPr>
        <p:txBody>
          <a:bodyPr spcFirstLastPara="1" wrap="square" lIns="91425" tIns="45700" rIns="91425" bIns="45700" anchor="t" anchorCtr="0">
            <a:spAutoFit/>
          </a:bodyPr>
          <a:lstStyle/>
          <a:p>
            <a:r>
              <a:rPr lang="en-US" sz="2400" b="1" dirty="0">
                <a:latin typeface="Times New Roman" panose="02020603050405020304" pitchFamily="18" charset="0"/>
                <a:cs typeface="Times New Roman" panose="02020603050405020304" pitchFamily="18" charset="0"/>
              </a:rPr>
              <a:t>Structural Analysis: United States Market</a:t>
            </a:r>
            <a:endParaRPr lang="en-IN" sz="20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7A4A978A-52D4-1A6E-B3AD-75FD028BB583}"/>
              </a:ext>
            </a:extLst>
          </p:cNvPr>
          <p:cNvSpPr>
            <a:spLocks noChangeArrowheads="1"/>
          </p:cNvSpPr>
          <p:nvPr/>
        </p:nvSpPr>
        <p:spPr bwMode="auto">
          <a:xfrm>
            <a:off x="183435" y="2273502"/>
            <a:ext cx="636976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Methodology:</a:t>
            </a:r>
            <a:r>
              <a:rPr lang="en-US" sz="2000" dirty="0">
                <a:latin typeface="Times New Roman" panose="02020603050405020304" pitchFamily="18" charset="0"/>
                <a:cs typeface="Times New Roman" panose="02020603050405020304" pitchFamily="18" charset="0"/>
              </a:rPr>
              <a:t> STL (Seasonal and Trend decomposition using Loess) applied to formally assess stationarity and identify systematic components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Key Findings:</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Trend Component: </a:t>
            </a:r>
            <a:r>
              <a:rPr lang="en-US" sz="2000" dirty="0">
                <a:latin typeface="Times New Roman" panose="02020603050405020304" pitchFamily="18" charset="0"/>
                <a:cs typeface="Times New Roman" panose="02020603050405020304" pitchFamily="18" charset="0"/>
              </a:rPr>
              <a:t>Smooth, monotonically increasing pattern confirms strong positive trend. Series identified as non-stationary (mean changes systematically over time)</a:t>
            </a:r>
          </a:p>
          <a:p>
            <a:r>
              <a:rPr lang="en-US" sz="2000" b="1" dirty="0">
                <a:latin typeface="Times New Roman" panose="02020603050405020304" pitchFamily="18" charset="0"/>
                <a:cs typeface="Times New Roman" panose="02020603050405020304" pitchFamily="18" charset="0"/>
              </a:rPr>
              <a:t>Remainder Component: </a:t>
            </a:r>
            <a:r>
              <a:rPr lang="en-US" sz="2000" dirty="0">
                <a:latin typeface="Times New Roman" panose="02020603050405020304" pitchFamily="18" charset="0"/>
                <a:cs typeface="Times New Roman" panose="02020603050405020304" pitchFamily="18" charset="0"/>
              </a:rPr>
              <a:t>Random oscillation around zero with distinct 2020 spike (COVID-19 effect). Post-trend removal shows structured variation indicating external shock</a:t>
            </a:r>
          </a:p>
          <a:p>
            <a:r>
              <a:rPr lang="en-US" sz="2000" b="1" dirty="0">
                <a:latin typeface="Times New Roman" panose="02020603050405020304" pitchFamily="18" charset="0"/>
                <a:cs typeface="Times New Roman" panose="02020603050405020304" pitchFamily="18" charset="0"/>
              </a:rPr>
              <a:t>Methodological Implication: </a:t>
            </a:r>
            <a:r>
              <a:rPr lang="en-US" sz="2000" dirty="0">
                <a:latin typeface="Times New Roman" panose="02020603050405020304" pitchFamily="18" charset="0"/>
                <a:cs typeface="Times New Roman" panose="02020603050405020304" pitchFamily="18" charset="0"/>
              </a:rPr>
              <a:t>Second-order differencing (d=2) required for ARIMA modeling. Non-stationarity necessitates transformation before parameter estimation</a:t>
            </a:r>
          </a:p>
        </p:txBody>
      </p:sp>
      <p:pic>
        <p:nvPicPr>
          <p:cNvPr id="3" name="Picture 2" descr="A graph of a graph showing the number of people&#10;&#10;AI-generated content may be incorrect.">
            <a:extLst>
              <a:ext uri="{FF2B5EF4-FFF2-40B4-BE49-F238E27FC236}">
                <a16:creationId xmlns:a16="http://schemas.microsoft.com/office/drawing/2014/main" id="{467FEE9F-9BCB-46EB-B63C-6FF119E0DC8B}"/>
              </a:ext>
            </a:extLst>
          </p:cNvPr>
          <p:cNvPicPr>
            <a:picLocks noChangeAspect="1"/>
          </p:cNvPicPr>
          <p:nvPr/>
        </p:nvPicPr>
        <p:blipFill>
          <a:blip r:embed="rId3"/>
          <a:stretch>
            <a:fillRect/>
          </a:stretch>
        </p:blipFill>
        <p:spPr>
          <a:xfrm>
            <a:off x="6553200" y="2713802"/>
            <a:ext cx="5552751" cy="3059699"/>
          </a:xfrm>
          <a:prstGeom prst="rect">
            <a:avLst/>
          </a:prstGeom>
          <a:ln>
            <a:solidFill>
              <a:schemeClr val="tx1"/>
            </a:solidFill>
          </a:ln>
        </p:spPr>
      </p:pic>
      <p:sp>
        <p:nvSpPr>
          <p:cNvPr id="6" name="TextBox 5">
            <a:extLst>
              <a:ext uri="{FF2B5EF4-FFF2-40B4-BE49-F238E27FC236}">
                <a16:creationId xmlns:a16="http://schemas.microsoft.com/office/drawing/2014/main" id="{BA42BED5-56D1-89DC-E021-6BE3A4FCC522}"/>
              </a:ext>
            </a:extLst>
          </p:cNvPr>
          <p:cNvSpPr txBox="1"/>
          <p:nvPr/>
        </p:nvSpPr>
        <p:spPr>
          <a:xfrm>
            <a:off x="7696386" y="5788817"/>
            <a:ext cx="3266378" cy="307777"/>
          </a:xfrm>
          <a:prstGeom prst="rect">
            <a:avLst/>
          </a:prstGeom>
          <a:noFill/>
        </p:spPr>
        <p:txBody>
          <a:bodyPr wrap="square">
            <a:spAutoFit/>
          </a:bodyPr>
          <a:lstStyle/>
          <a:p>
            <a:r>
              <a:rPr lang="en-GB" sz="1400" i="1" dirty="0">
                <a:effectLst/>
                <a:latin typeface="Times New Roman" panose="02020603050405020304" pitchFamily="18" charset="0"/>
                <a:ea typeface="Arial" panose="020B0604020202020204" pitchFamily="34" charset="0"/>
              </a:rPr>
              <a:t>STL Decomposition Plot for United States</a:t>
            </a:r>
            <a:endParaRPr lang="en-IN" dirty="0"/>
          </a:p>
        </p:txBody>
      </p:sp>
    </p:spTree>
    <p:extLst>
      <p:ext uri="{BB962C8B-B14F-4D97-AF65-F5344CB8AC3E}">
        <p14:creationId xmlns:p14="http://schemas.microsoft.com/office/powerpoint/2010/main" val="3858161077"/>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32096D2A-A119-C76B-29EA-9644EA949150}"/>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AE4666E3-5D39-EB8C-150D-C34FE900B1BE}"/>
              </a:ext>
            </a:extLst>
          </p:cNvPr>
          <p:cNvSpPr txBox="1"/>
          <p:nvPr/>
        </p:nvSpPr>
        <p:spPr>
          <a:xfrm>
            <a:off x="2567228" y="1170944"/>
            <a:ext cx="7082245" cy="634122"/>
          </a:xfrm>
          <a:prstGeom prst="rect">
            <a:avLst/>
          </a:prstGeom>
          <a:noFill/>
          <a:ln>
            <a:noFill/>
          </a:ln>
        </p:spPr>
        <p:txBody>
          <a:bodyPr spcFirstLastPara="1" wrap="square" lIns="91425" tIns="45700" rIns="91425" bIns="45700" anchor="ctr" anchorCtr="0">
            <a:noAutofit/>
          </a:bodyPr>
          <a:lstStyle/>
          <a:p>
            <a:pPr>
              <a:buClr>
                <a:schemeClr val="dk1"/>
              </a:buClr>
              <a:buSzPts val="4400"/>
            </a:pPr>
            <a:r>
              <a:rPr lang="en-IN" sz="4000" b="1" dirty="0">
                <a:latin typeface="Times New Roman" panose="02020603050405020304" pitchFamily="18" charset="0"/>
                <a:cs typeface="Times New Roman" panose="02020603050405020304" pitchFamily="18" charset="0"/>
              </a:rPr>
              <a:t>Objective 1 – Market Structure</a:t>
            </a:r>
          </a:p>
        </p:txBody>
      </p:sp>
      <p:sp>
        <p:nvSpPr>
          <p:cNvPr id="136" name="Google Shape;136;p9">
            <a:extLst>
              <a:ext uri="{FF2B5EF4-FFF2-40B4-BE49-F238E27FC236}">
                <a16:creationId xmlns:a16="http://schemas.microsoft.com/office/drawing/2014/main" id="{13645FDD-4442-429B-F2EB-D5A78AC66C83}"/>
              </a:ext>
            </a:extLst>
          </p:cNvPr>
          <p:cNvSpPr txBox="1"/>
          <p:nvPr/>
        </p:nvSpPr>
        <p:spPr>
          <a:xfrm>
            <a:off x="399408" y="1869951"/>
            <a:ext cx="5274435" cy="400069"/>
          </a:xfrm>
          <a:prstGeom prst="rect">
            <a:avLst/>
          </a:prstGeom>
          <a:noFill/>
          <a:ln>
            <a:noFill/>
          </a:ln>
        </p:spPr>
        <p:txBody>
          <a:bodyPr spcFirstLastPara="1" wrap="square" lIns="91425" tIns="45700" rIns="91425" bIns="45700" anchor="t" anchorCtr="0">
            <a:spAutoFit/>
          </a:bodyPr>
          <a:lstStyle/>
          <a:p>
            <a:r>
              <a:rPr lang="en-IN" sz="2000" b="1" dirty="0">
                <a:latin typeface="Times New Roman" panose="02020603050405020304" pitchFamily="18" charset="0"/>
                <a:cs typeface="Times New Roman" panose="02020603050405020304" pitchFamily="18" charset="0"/>
              </a:rPr>
              <a:t>Manufacturer Concentration Analysis:</a:t>
            </a:r>
            <a:endParaRPr lang="en-IN" sz="32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8231DD3A-7992-E9D5-CEA6-155A2303FF7C}"/>
              </a:ext>
            </a:extLst>
          </p:cNvPr>
          <p:cNvSpPr>
            <a:spLocks noChangeArrowheads="1"/>
          </p:cNvSpPr>
          <p:nvPr/>
        </p:nvSpPr>
        <p:spPr bwMode="auto">
          <a:xfrm>
            <a:off x="399407" y="2218949"/>
            <a:ext cx="593607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Key Finding:</a:t>
            </a:r>
            <a:r>
              <a:rPr lang="en-IN" sz="1800" dirty="0">
                <a:latin typeface="Times New Roman" panose="02020603050405020304" pitchFamily="18" charset="0"/>
                <a:cs typeface="Times New Roman" panose="02020603050405020304" pitchFamily="18" charset="0"/>
              </a:rPr>
              <a:t> Oligopolistic market structure with top 3 generic manufacturers dominating:</a:t>
            </a:r>
          </a:p>
          <a:p>
            <a:pPr fontAlgn="base"/>
            <a:r>
              <a:rPr lang="en-IN" sz="1800" dirty="0">
                <a:latin typeface="Times New Roman" panose="02020603050405020304" pitchFamily="18" charset="0"/>
                <a:cs typeface="Times New Roman" panose="02020603050405020304" pitchFamily="18" charset="0"/>
              </a:rPr>
              <a:t>Aurobindo Pharma</a:t>
            </a:r>
          </a:p>
          <a:p>
            <a:pPr fontAlgn="base"/>
            <a:r>
              <a:rPr lang="en-IN" sz="1800" dirty="0">
                <a:latin typeface="Times New Roman" panose="02020603050405020304" pitchFamily="18" charset="0"/>
                <a:cs typeface="Times New Roman" panose="02020603050405020304" pitchFamily="18" charset="0"/>
              </a:rPr>
              <a:t>Lupin Pharmaceuticals</a:t>
            </a:r>
          </a:p>
          <a:p>
            <a:pPr fontAlgn="base"/>
            <a:r>
              <a:rPr lang="en-IN" sz="1800" dirty="0">
                <a:latin typeface="Times New Roman" panose="02020603050405020304" pitchFamily="18" charset="0"/>
                <a:cs typeface="Times New Roman" panose="02020603050405020304" pitchFamily="18" charset="0"/>
              </a:rPr>
              <a:t>Teva USA</a:t>
            </a:r>
          </a:p>
          <a:p>
            <a:r>
              <a:rPr lang="en-IN" sz="1800" b="1" dirty="0">
                <a:latin typeface="Times New Roman" panose="02020603050405020304" pitchFamily="18" charset="0"/>
                <a:cs typeface="Times New Roman" panose="02020603050405020304" pitchFamily="18" charset="0"/>
              </a:rPr>
              <a:t>Implication:</a:t>
            </a:r>
            <a:r>
              <a:rPr lang="en-IN" sz="1800" dirty="0">
                <a:latin typeface="Times New Roman" panose="02020603050405020304" pitchFamily="18" charset="0"/>
                <a:cs typeface="Times New Roman" panose="02020603050405020304" pitchFamily="18" charset="0"/>
              </a:rPr>
              <a:t> Small number of firms determine aggregate market trajectories; supply chain vulnerabilities concentrated</a:t>
            </a:r>
            <a:endParaRPr lang="en-US" sz="1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6B44AE7-D7E1-3E1B-5C73-B99F2D1779AF}"/>
              </a:ext>
            </a:extLst>
          </p:cNvPr>
          <p:cNvPicPr>
            <a:picLocks noChangeAspect="1"/>
          </p:cNvPicPr>
          <p:nvPr/>
        </p:nvPicPr>
        <p:blipFill rotWithShape="1">
          <a:blip r:embed="rId3"/>
          <a:srcRect t="1817"/>
          <a:stretch>
            <a:fillRect/>
          </a:stretch>
        </p:blipFill>
        <p:spPr bwMode="auto">
          <a:xfrm>
            <a:off x="967258" y="4228544"/>
            <a:ext cx="4943685" cy="2228881"/>
          </a:xfrm>
          <a:prstGeom prst="rect">
            <a:avLst/>
          </a:prstGeom>
          <a:ln>
            <a:solidFill>
              <a:schemeClr val="tx1"/>
            </a:solid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B818CF2C-25B1-E0B6-0D03-EBDD71A96924}"/>
              </a:ext>
            </a:extLst>
          </p:cNvPr>
          <p:cNvSpPr txBox="1"/>
          <p:nvPr/>
        </p:nvSpPr>
        <p:spPr>
          <a:xfrm>
            <a:off x="2348904" y="6457425"/>
            <a:ext cx="2589871" cy="276999"/>
          </a:xfrm>
          <a:prstGeom prst="rect">
            <a:avLst/>
          </a:prstGeom>
          <a:noFill/>
        </p:spPr>
        <p:txBody>
          <a:bodyPr wrap="square">
            <a:spAutoFit/>
          </a:bodyPr>
          <a:lstStyle/>
          <a:p>
            <a:r>
              <a:rPr lang="en-GB" sz="1200" i="1" dirty="0">
                <a:effectLst/>
                <a:latin typeface="Times New Roman" panose="02020603050405020304" pitchFamily="18" charset="0"/>
                <a:ea typeface="Arial" panose="020B0604020202020204" pitchFamily="34" charset="0"/>
              </a:rPr>
              <a:t>Top 10 Manufacturers Bar Chart</a:t>
            </a:r>
          </a:p>
        </p:txBody>
      </p:sp>
      <p:pic>
        <p:nvPicPr>
          <p:cNvPr id="12" name="Picture 11" descr="A close-up of a chart&#10;&#10;AI-generated content may be incorrect.">
            <a:extLst>
              <a:ext uri="{FF2B5EF4-FFF2-40B4-BE49-F238E27FC236}">
                <a16:creationId xmlns:a16="http://schemas.microsoft.com/office/drawing/2014/main" id="{E06FC83E-009F-AF20-7F71-610ECDD97D6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5677" r="16729"/>
          <a:stretch>
            <a:fillRect/>
          </a:stretch>
        </p:blipFill>
        <p:spPr bwMode="auto">
          <a:xfrm>
            <a:off x="7761514" y="3738291"/>
            <a:ext cx="3281067" cy="2523709"/>
          </a:xfrm>
          <a:prstGeom prst="rect">
            <a:avLst/>
          </a:prstGeom>
          <a:noFill/>
          <a:ln>
            <a:solidFill>
              <a:schemeClr val="tx1"/>
            </a:solidFill>
          </a:ln>
          <a:extLst>
            <a:ext uri="{53640926-AAD7-44D8-BBD7-CCE9431645EC}">
              <a14:shadowObscured xmlns:a14="http://schemas.microsoft.com/office/drawing/2010/main"/>
            </a:ext>
          </a:extLst>
        </p:spPr>
      </p:pic>
      <p:sp>
        <p:nvSpPr>
          <p:cNvPr id="14" name="TextBox 13">
            <a:extLst>
              <a:ext uri="{FF2B5EF4-FFF2-40B4-BE49-F238E27FC236}">
                <a16:creationId xmlns:a16="http://schemas.microsoft.com/office/drawing/2014/main" id="{456030D3-0E3B-5203-C589-49D92CB171CF}"/>
              </a:ext>
            </a:extLst>
          </p:cNvPr>
          <p:cNvSpPr txBox="1"/>
          <p:nvPr/>
        </p:nvSpPr>
        <p:spPr>
          <a:xfrm>
            <a:off x="8647263" y="6270214"/>
            <a:ext cx="1837678" cy="276999"/>
          </a:xfrm>
          <a:prstGeom prst="rect">
            <a:avLst/>
          </a:prstGeom>
          <a:noFill/>
        </p:spPr>
        <p:txBody>
          <a:bodyPr wrap="square">
            <a:spAutoFit/>
          </a:bodyPr>
          <a:lstStyle/>
          <a:p>
            <a:r>
              <a:rPr lang="en-IN" sz="1200" b="0" i="1" u="none" strike="noStrike" dirty="0">
                <a:solidFill>
                  <a:srgbClr val="000000"/>
                </a:solidFill>
                <a:effectLst/>
                <a:latin typeface="Times New Roman" panose="02020603050405020304" pitchFamily="18" charset="0"/>
                <a:cs typeface="Times New Roman" panose="02020603050405020304" pitchFamily="18" charset="0"/>
              </a:rPr>
              <a:t>Correlation Heatmap</a:t>
            </a:r>
          </a:p>
        </p:txBody>
      </p:sp>
      <p:sp>
        <p:nvSpPr>
          <p:cNvPr id="2" name="Google Shape;136;p9">
            <a:extLst>
              <a:ext uri="{FF2B5EF4-FFF2-40B4-BE49-F238E27FC236}">
                <a16:creationId xmlns:a16="http://schemas.microsoft.com/office/drawing/2014/main" id="{86F9B890-E6F4-A1DA-0341-4B8C2802682E}"/>
              </a:ext>
            </a:extLst>
          </p:cNvPr>
          <p:cNvSpPr txBox="1"/>
          <p:nvPr/>
        </p:nvSpPr>
        <p:spPr>
          <a:xfrm>
            <a:off x="6255922" y="1814773"/>
            <a:ext cx="5274435" cy="400069"/>
          </a:xfrm>
          <a:prstGeom prst="rect">
            <a:avLst/>
          </a:prstGeom>
          <a:noFill/>
          <a:ln>
            <a:noFill/>
          </a:ln>
        </p:spPr>
        <p:txBody>
          <a:bodyPr spcFirstLastPara="1" wrap="square" lIns="91425" tIns="45700" rIns="91425" bIns="45700" anchor="t" anchorCtr="0">
            <a:spAutoFit/>
          </a:bodyPr>
          <a:lstStyle/>
          <a:p>
            <a:r>
              <a:rPr lang="en-IN" sz="2000" b="1" dirty="0">
                <a:latin typeface="Times New Roman" panose="02020603050405020304" pitchFamily="18" charset="0"/>
                <a:cs typeface="Times New Roman" panose="02020603050405020304" pitchFamily="18" charset="0"/>
              </a:rPr>
              <a:t>Correlation Analysis:</a:t>
            </a:r>
            <a:endParaRPr lang="en-IN" sz="32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24DA2BDB-A971-4FAC-809F-F2DD4DB4ADC4}"/>
              </a:ext>
            </a:extLst>
          </p:cNvPr>
          <p:cNvSpPr>
            <a:spLocks noChangeArrowheads="1"/>
          </p:cNvSpPr>
          <p:nvPr/>
        </p:nvSpPr>
        <p:spPr bwMode="auto">
          <a:xfrm>
            <a:off x="6255922" y="2143111"/>
            <a:ext cx="593607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Bef>
                <a:spcPts val="1200"/>
              </a:spcBef>
            </a:pPr>
            <a:r>
              <a:rPr lang="en-US" sz="1800" b="1" dirty="0">
                <a:latin typeface="Times New Roman" panose="02020603050405020304" pitchFamily="18" charset="0"/>
                <a:cs typeface="Times New Roman" panose="02020603050405020304" pitchFamily="18" charset="0"/>
              </a:rPr>
              <a:t>Key Finding:</a:t>
            </a:r>
            <a:r>
              <a:rPr lang="en-US" sz="1800" dirty="0">
                <a:latin typeface="Times New Roman" panose="02020603050405020304" pitchFamily="18" charset="0"/>
                <a:cs typeface="Times New Roman" panose="02020603050405020304" pitchFamily="18" charset="0"/>
              </a:rPr>
              <a:t> Extremely strong positive correlations              (r &gt; 0.95) between all variable pairs (total spending, total claims, total dosage units)</a:t>
            </a:r>
          </a:p>
          <a:p>
            <a:pPr>
              <a:spcAft>
                <a:spcPts val="1200"/>
              </a:spcAft>
            </a:pPr>
            <a:r>
              <a:rPr lang="en-US" sz="1800" b="1" dirty="0">
                <a:latin typeface="Times New Roman" panose="02020603050405020304" pitchFamily="18" charset="0"/>
                <a:cs typeface="Times New Roman" panose="02020603050405020304" pitchFamily="18" charset="0"/>
              </a:rPr>
              <a:t>Implication:</a:t>
            </a:r>
            <a:r>
              <a:rPr lang="en-US" sz="1800" dirty="0">
                <a:latin typeface="Times New Roman" panose="02020603050405020304" pitchFamily="18" charset="0"/>
                <a:cs typeface="Times New Roman" panose="02020603050405020304" pitchFamily="18" charset="0"/>
              </a:rPr>
              <a:t> Variables move in lockstep over time, signaling severe multicollinearity risk for regression modeling</a:t>
            </a:r>
          </a:p>
        </p:txBody>
      </p:sp>
    </p:spTree>
    <p:extLst>
      <p:ext uri="{BB962C8B-B14F-4D97-AF65-F5344CB8AC3E}">
        <p14:creationId xmlns:p14="http://schemas.microsoft.com/office/powerpoint/2010/main" val="916014387"/>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82B8F844-3A8F-54F5-DE50-1B22FCEA8E75}"/>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71F7CB60-D485-27FB-9D79-2877C963B425}"/>
              </a:ext>
            </a:extLst>
          </p:cNvPr>
          <p:cNvSpPr txBox="1"/>
          <p:nvPr/>
        </p:nvSpPr>
        <p:spPr>
          <a:xfrm>
            <a:off x="1007724" y="1175662"/>
            <a:ext cx="10437815" cy="634122"/>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IN" sz="4000" b="1" dirty="0">
                <a:latin typeface="Times New Roman" panose="02020603050405020304" pitchFamily="18" charset="0"/>
                <a:cs typeface="Times New Roman" panose="02020603050405020304" pitchFamily="18" charset="0"/>
              </a:rPr>
              <a:t>Objective 2 – Model Performance Comparison</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DDF2FF99-CA66-D703-C4B7-95487380B25E}"/>
              </a:ext>
            </a:extLst>
          </p:cNvPr>
          <p:cNvSpPr txBox="1"/>
          <p:nvPr/>
        </p:nvSpPr>
        <p:spPr>
          <a:xfrm>
            <a:off x="3293372" y="1750853"/>
            <a:ext cx="5605255" cy="400069"/>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Univariate Forecasting: Model Selection Results</a:t>
            </a:r>
          </a:p>
        </p:txBody>
      </p:sp>
      <p:sp>
        <p:nvSpPr>
          <p:cNvPr id="5" name="Rectangle 2">
            <a:extLst>
              <a:ext uri="{FF2B5EF4-FFF2-40B4-BE49-F238E27FC236}">
                <a16:creationId xmlns:a16="http://schemas.microsoft.com/office/drawing/2014/main" id="{D30EF2B7-FE88-C217-41FE-F5DE70FC16FB}"/>
              </a:ext>
            </a:extLst>
          </p:cNvPr>
          <p:cNvSpPr>
            <a:spLocks noChangeArrowheads="1"/>
          </p:cNvSpPr>
          <p:nvPr/>
        </p:nvSpPr>
        <p:spPr bwMode="auto">
          <a:xfrm>
            <a:off x="490745" y="2165125"/>
            <a:ext cx="692242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800" b="1" dirty="0">
                <a:latin typeface="Times New Roman" panose="02020603050405020304" pitchFamily="18" charset="0"/>
                <a:cs typeface="Times New Roman" panose="02020603050405020304" pitchFamily="18" charset="0"/>
              </a:rPr>
              <a:t>Models Evaluated:</a:t>
            </a:r>
            <a:endParaRPr lang="en-IN" sz="1800" dirty="0">
              <a:latin typeface="Times New Roman" panose="02020603050405020304" pitchFamily="18" charset="0"/>
              <a:cs typeface="Times New Roman" panose="02020603050405020304" pitchFamily="18" charset="0"/>
            </a:endParaRPr>
          </a:p>
          <a:p>
            <a:pPr marL="342900" indent="-342900" fontAlgn="base">
              <a:buFont typeface="+mj-lt"/>
              <a:buAutoNum type="arabicPeriod"/>
            </a:pPr>
            <a:r>
              <a:rPr lang="en-IN" sz="1800" dirty="0">
                <a:latin typeface="Times New Roman" panose="02020603050405020304" pitchFamily="18" charset="0"/>
                <a:cs typeface="Times New Roman" panose="02020603050405020304" pitchFamily="18" charset="0"/>
              </a:rPr>
              <a:t>ARIMA(0,2,1) with drift – Classical autoregressive approach with second-order differencing</a:t>
            </a:r>
          </a:p>
          <a:p>
            <a:pPr marL="342900" indent="-342900" fontAlgn="base">
              <a:buFont typeface="+mj-lt"/>
              <a:buAutoNum type="arabicPeriod"/>
            </a:pPr>
            <a:r>
              <a:rPr lang="en-IN" sz="1800" dirty="0">
                <a:latin typeface="Times New Roman" panose="02020603050405020304" pitchFamily="18" charset="0"/>
                <a:cs typeface="Times New Roman" panose="02020603050405020304" pitchFamily="18" charset="0"/>
              </a:rPr>
              <a:t>ETS(A,A,N) – Holt's Linear Trend Method with additive components</a:t>
            </a:r>
          </a:p>
          <a:p>
            <a:pPr marL="342900" indent="-342900" fontAlgn="base">
              <a:buFont typeface="+mj-lt"/>
              <a:buAutoNum type="arabicPeriod"/>
            </a:pPr>
            <a:r>
              <a:rPr lang="en-IN" sz="1800" dirty="0">
                <a:latin typeface="Times New Roman" panose="02020603050405020304" pitchFamily="18" charset="0"/>
                <a:cs typeface="Times New Roman" panose="02020603050405020304" pitchFamily="18" charset="0"/>
              </a:rPr>
              <a:t>Prophet – Bayesian framework with automatic changepoint detection</a:t>
            </a:r>
          </a:p>
          <a:p>
            <a:r>
              <a:rPr lang="en-IN" sz="1800" b="1" dirty="0">
                <a:latin typeface="Times New Roman" panose="02020603050405020304" pitchFamily="18" charset="0"/>
                <a:cs typeface="Times New Roman" panose="02020603050405020304" pitchFamily="18" charset="0"/>
              </a:rPr>
              <a:t>Validation Strategy:</a:t>
            </a:r>
            <a:endParaRPr lang="en-IN" sz="1800" dirty="0">
              <a:latin typeface="Times New Roman" panose="02020603050405020304" pitchFamily="18" charset="0"/>
              <a:cs typeface="Times New Roman" panose="02020603050405020304" pitchFamily="18" charset="0"/>
            </a:endParaRPr>
          </a:p>
          <a:p>
            <a:pPr fontAlgn="base"/>
            <a:r>
              <a:rPr lang="en-IN" sz="1800" dirty="0">
                <a:latin typeface="Times New Roman" panose="02020603050405020304" pitchFamily="18" charset="0"/>
                <a:cs typeface="Times New Roman" panose="02020603050405020304" pitchFamily="18" charset="0"/>
              </a:rPr>
              <a:t>Training: 2010-2021 (12 years)</a:t>
            </a:r>
          </a:p>
          <a:p>
            <a:pPr fontAlgn="base"/>
            <a:r>
              <a:rPr lang="en-IN" sz="1800" dirty="0">
                <a:latin typeface="Times New Roman" panose="02020603050405020304" pitchFamily="18" charset="0"/>
                <a:cs typeface="Times New Roman" panose="02020603050405020304" pitchFamily="18" charset="0"/>
              </a:rPr>
              <a:t>Testing: 2022-2024 (3 years holdout)</a:t>
            </a:r>
          </a:p>
        </p:txBody>
      </p:sp>
      <p:graphicFrame>
        <p:nvGraphicFramePr>
          <p:cNvPr id="4" name="Table 3">
            <a:extLst>
              <a:ext uri="{FF2B5EF4-FFF2-40B4-BE49-F238E27FC236}">
                <a16:creationId xmlns:a16="http://schemas.microsoft.com/office/drawing/2014/main" id="{119473F4-A00D-7ADA-1E99-D3F749C2E1F2}"/>
              </a:ext>
            </a:extLst>
          </p:cNvPr>
          <p:cNvGraphicFramePr>
            <a:graphicFrameLocks noGrp="1"/>
          </p:cNvGraphicFramePr>
          <p:nvPr>
            <p:extLst>
              <p:ext uri="{D42A27DB-BD31-4B8C-83A1-F6EECF244321}">
                <p14:modId xmlns:p14="http://schemas.microsoft.com/office/powerpoint/2010/main" val="1344623848"/>
              </p:ext>
            </p:extLst>
          </p:nvPr>
        </p:nvGraphicFramePr>
        <p:xfrm>
          <a:off x="7782399" y="2510870"/>
          <a:ext cx="3918856" cy="1605280"/>
        </p:xfrm>
        <a:graphic>
          <a:graphicData uri="http://schemas.openxmlformats.org/drawingml/2006/table">
            <a:tbl>
              <a:tblPr/>
              <a:tblGrid>
                <a:gridCol w="993912">
                  <a:extLst>
                    <a:ext uri="{9D8B030D-6E8A-4147-A177-3AD203B41FA5}">
                      <a16:colId xmlns:a16="http://schemas.microsoft.com/office/drawing/2014/main" val="327577766"/>
                    </a:ext>
                  </a:extLst>
                </a:gridCol>
                <a:gridCol w="866124">
                  <a:extLst>
                    <a:ext uri="{9D8B030D-6E8A-4147-A177-3AD203B41FA5}">
                      <a16:colId xmlns:a16="http://schemas.microsoft.com/office/drawing/2014/main" val="2532716506"/>
                    </a:ext>
                  </a:extLst>
                </a:gridCol>
                <a:gridCol w="738335">
                  <a:extLst>
                    <a:ext uri="{9D8B030D-6E8A-4147-A177-3AD203B41FA5}">
                      <a16:colId xmlns:a16="http://schemas.microsoft.com/office/drawing/2014/main" val="1786177970"/>
                    </a:ext>
                  </a:extLst>
                </a:gridCol>
                <a:gridCol w="1320485">
                  <a:extLst>
                    <a:ext uri="{9D8B030D-6E8A-4147-A177-3AD203B41FA5}">
                      <a16:colId xmlns:a16="http://schemas.microsoft.com/office/drawing/2014/main" val="876991025"/>
                    </a:ext>
                  </a:extLst>
                </a:gridCol>
              </a:tblGrid>
              <a:tr h="317500">
                <a:tc>
                  <a:txBody>
                    <a:bodyPr/>
                    <a:lstStyle/>
                    <a:p>
                      <a:pPr algn="ctr" rtl="0" fontAlgn="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Model</a:t>
                      </a:r>
                      <a:endParaRPr lang="en-IN" sz="18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1" i="0" u="none" strike="noStrike">
                          <a:solidFill>
                            <a:srgbClr val="000000"/>
                          </a:solidFill>
                          <a:effectLst/>
                          <a:latin typeface="Times New Roman" panose="02020603050405020304" pitchFamily="18" charset="0"/>
                          <a:cs typeface="Times New Roman" panose="02020603050405020304" pitchFamily="18" charset="0"/>
                        </a:rPr>
                        <a:t>RMSE</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1" i="0" u="none" strike="noStrike">
                          <a:solidFill>
                            <a:srgbClr val="000000"/>
                          </a:solidFill>
                          <a:effectLst/>
                          <a:latin typeface="Times New Roman" panose="02020603050405020304" pitchFamily="18" charset="0"/>
                          <a:cs typeface="Times New Roman" panose="02020603050405020304" pitchFamily="18" charset="0"/>
                        </a:rPr>
                        <a:t>MAE</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1" i="0" u="none" strike="noStrike">
                          <a:solidFill>
                            <a:srgbClr val="000000"/>
                          </a:solidFill>
                          <a:effectLst/>
                          <a:latin typeface="Times New Roman" panose="02020603050405020304" pitchFamily="18" charset="0"/>
                          <a:cs typeface="Times New Roman" panose="02020603050405020304" pitchFamily="18" charset="0"/>
                        </a:rPr>
                        <a:t>MAPE (%)</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9275045"/>
                  </a:ext>
                </a:extLst>
              </a:tr>
              <a:tr h="317500">
                <a:tc>
                  <a:txBody>
                    <a:bodyPr/>
                    <a:lstStyle/>
                    <a:p>
                      <a:pPr algn="ctr" rtl="0" fontAlgn="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ARIMA</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1.15</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0.81</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1.77</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0134802"/>
                  </a:ext>
                </a:extLst>
              </a:tr>
              <a:tr h="317500">
                <a:tc>
                  <a:txBody>
                    <a:bodyPr/>
                    <a:lstStyle/>
                    <a:p>
                      <a:pPr algn="ctr" rtl="0" fontAlgn="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ETS</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0.42</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0" i="0" u="none" strike="noStrike">
                          <a:solidFill>
                            <a:srgbClr val="000000"/>
                          </a:solidFill>
                          <a:effectLst/>
                          <a:latin typeface="Times New Roman" panose="02020603050405020304" pitchFamily="18" charset="0"/>
                          <a:cs typeface="Times New Roman" panose="02020603050405020304" pitchFamily="18" charset="0"/>
                        </a:rPr>
                        <a:t>0.32</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0" i="0" u="none" strike="noStrike" dirty="0">
                          <a:solidFill>
                            <a:srgbClr val="000000"/>
                          </a:solidFill>
                          <a:effectLst/>
                          <a:latin typeface="Times New Roman" panose="02020603050405020304" pitchFamily="18" charset="0"/>
                          <a:cs typeface="Times New Roman" panose="02020603050405020304" pitchFamily="18" charset="0"/>
                        </a:rPr>
                        <a:t>0.70</a:t>
                      </a:r>
                      <a:endParaRPr lang="en-IN" sz="18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3793980"/>
                  </a:ext>
                </a:extLst>
              </a:tr>
              <a:tr h="355872">
                <a:tc>
                  <a:txBody>
                    <a:bodyPr/>
                    <a:lstStyle/>
                    <a:p>
                      <a:pPr algn="ctr" rtl="0" fontAlgn="t">
                        <a:buNone/>
                      </a:pPr>
                      <a:r>
                        <a:rPr lang="en-IN" sz="1800" b="1" i="0" u="none" strike="noStrike">
                          <a:solidFill>
                            <a:srgbClr val="000000"/>
                          </a:solidFill>
                          <a:effectLst/>
                          <a:latin typeface="Times New Roman" panose="02020603050405020304" pitchFamily="18" charset="0"/>
                          <a:cs typeface="Times New Roman" panose="02020603050405020304" pitchFamily="18" charset="0"/>
                        </a:rPr>
                        <a:t>Prophet</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1" i="0" u="none" strike="noStrike">
                          <a:solidFill>
                            <a:srgbClr val="000000"/>
                          </a:solidFill>
                          <a:effectLst/>
                          <a:latin typeface="Times New Roman" panose="02020603050405020304" pitchFamily="18" charset="0"/>
                          <a:cs typeface="Times New Roman" panose="02020603050405020304" pitchFamily="18" charset="0"/>
                        </a:rPr>
                        <a:t>0.35</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1" i="0" u="none" strike="noStrike">
                          <a:solidFill>
                            <a:srgbClr val="000000"/>
                          </a:solidFill>
                          <a:effectLst/>
                          <a:latin typeface="Times New Roman" panose="02020603050405020304" pitchFamily="18" charset="0"/>
                          <a:cs typeface="Times New Roman" panose="02020603050405020304" pitchFamily="18" charset="0"/>
                        </a:rPr>
                        <a:t>0.28</a:t>
                      </a:r>
                      <a:endParaRPr lang="en-IN" sz="18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0.61</a:t>
                      </a:r>
                      <a:endParaRPr lang="en-IN" sz="18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6924964"/>
                  </a:ext>
                </a:extLst>
              </a:tr>
            </a:tbl>
          </a:graphicData>
        </a:graphic>
      </p:graphicFrame>
      <p:sp>
        <p:nvSpPr>
          <p:cNvPr id="9" name="TextBox 8">
            <a:extLst>
              <a:ext uri="{FF2B5EF4-FFF2-40B4-BE49-F238E27FC236}">
                <a16:creationId xmlns:a16="http://schemas.microsoft.com/office/drawing/2014/main" id="{9240C2A4-6322-2AA0-752C-1115E340ECBB}"/>
              </a:ext>
            </a:extLst>
          </p:cNvPr>
          <p:cNvSpPr txBox="1"/>
          <p:nvPr/>
        </p:nvSpPr>
        <p:spPr>
          <a:xfrm>
            <a:off x="609602" y="6300312"/>
            <a:ext cx="11325717" cy="369332"/>
          </a:xfrm>
          <a:prstGeom prst="rect">
            <a:avLst/>
          </a:prstGeom>
          <a:noFill/>
        </p:spPr>
        <p:txBody>
          <a:bodyPr wrap="square">
            <a:spAutoFit/>
          </a:bodyPr>
          <a:lstStyle/>
          <a:p>
            <a:r>
              <a:rPr lang="en-US" sz="1800" b="1" i="0" u="none" strike="noStrike" dirty="0">
                <a:solidFill>
                  <a:srgbClr val="000000"/>
                </a:solidFill>
                <a:effectLst/>
                <a:latin typeface="Times New Roman" panose="02020603050405020304" pitchFamily="18" charset="0"/>
                <a:cs typeface="Times New Roman" panose="02020603050405020304" pitchFamily="18" charset="0"/>
              </a:rPr>
              <a:t>Conclusion:</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Prophet achieves superior out-of-sample accuracy across all metrics, selected as optimal forecasting model</a:t>
            </a:r>
            <a:endParaRPr lang="en-IN" sz="1800" dirty="0">
              <a:latin typeface="Times New Roman" panose="02020603050405020304" pitchFamily="18" charset="0"/>
              <a:cs typeface="Times New Roman" panose="02020603050405020304" pitchFamily="18" charset="0"/>
            </a:endParaRPr>
          </a:p>
        </p:txBody>
      </p:sp>
      <p:pic>
        <p:nvPicPr>
          <p:cNvPr id="2052" name="Picture 7" descr="A graph showing the growth of sales&#10;&#10;AI-generated content may be incorrect.">
            <a:extLst>
              <a:ext uri="{FF2B5EF4-FFF2-40B4-BE49-F238E27FC236}">
                <a16:creationId xmlns:a16="http://schemas.microsoft.com/office/drawing/2014/main" id="{4CC02056-8EBF-9C32-0CA5-6DC3D546A2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81" t="3215" r="12859"/>
          <a:stretch>
            <a:fillRect/>
          </a:stretch>
        </p:blipFill>
        <p:spPr bwMode="auto">
          <a:xfrm>
            <a:off x="8752116" y="4688268"/>
            <a:ext cx="2846370" cy="161204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1" name="Picture 8" descr="A graph showing the growth of us antidepressant sales&#10;&#10;AI-generated content may be incorrect.">
            <a:extLst>
              <a:ext uri="{FF2B5EF4-FFF2-40B4-BE49-F238E27FC236}">
                <a16:creationId xmlns:a16="http://schemas.microsoft.com/office/drawing/2014/main" id="{15188D04-2DFE-ED27-B7BC-9245E39954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1589"/>
          <a:stretch>
            <a:fillRect/>
          </a:stretch>
        </p:blipFill>
        <p:spPr bwMode="auto">
          <a:xfrm>
            <a:off x="4871092" y="4687747"/>
            <a:ext cx="2885559" cy="164231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2050" name="Picture 9" descr="A graph showing the growth of a company&#10;&#10;AI-generated content may be incorrect.">
            <a:extLst>
              <a:ext uri="{FF2B5EF4-FFF2-40B4-BE49-F238E27FC236}">
                <a16:creationId xmlns:a16="http://schemas.microsoft.com/office/drawing/2014/main" id="{20956C32-20D8-2BDC-9243-A67C1C384F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11841"/>
          <a:stretch>
            <a:fillRect/>
          </a:stretch>
        </p:blipFill>
        <p:spPr bwMode="auto">
          <a:xfrm>
            <a:off x="892949" y="4688607"/>
            <a:ext cx="2757590" cy="159230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10" name="Rectangle 5">
            <a:extLst>
              <a:ext uri="{FF2B5EF4-FFF2-40B4-BE49-F238E27FC236}">
                <a16:creationId xmlns:a16="http://schemas.microsoft.com/office/drawing/2014/main" id="{915A480D-7E50-57FA-CE82-AB481183BE00}"/>
              </a:ext>
            </a:extLst>
          </p:cNvPr>
          <p:cNvSpPr>
            <a:spLocks noChangeArrowheads="1"/>
          </p:cNvSpPr>
          <p:nvPr/>
        </p:nvSpPr>
        <p:spPr bwMode="auto">
          <a:xfrm>
            <a:off x="4648201" y="434713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TextBox 13">
            <a:extLst>
              <a:ext uri="{FF2B5EF4-FFF2-40B4-BE49-F238E27FC236}">
                <a16:creationId xmlns:a16="http://schemas.microsoft.com/office/drawing/2014/main" id="{E8478BF0-A7BB-5D13-F10D-29E03BBD8D32}"/>
              </a:ext>
            </a:extLst>
          </p:cNvPr>
          <p:cNvSpPr txBox="1"/>
          <p:nvPr/>
        </p:nvSpPr>
        <p:spPr>
          <a:xfrm>
            <a:off x="8486940" y="2128394"/>
            <a:ext cx="2351316" cy="369332"/>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Performance Metrics:</a:t>
            </a:r>
          </a:p>
        </p:txBody>
      </p:sp>
      <p:sp>
        <p:nvSpPr>
          <p:cNvPr id="16" name="TextBox 15">
            <a:extLst>
              <a:ext uri="{FF2B5EF4-FFF2-40B4-BE49-F238E27FC236}">
                <a16:creationId xmlns:a16="http://schemas.microsoft.com/office/drawing/2014/main" id="{F0588D7D-F585-17C7-2734-C95EDEF1DA83}"/>
              </a:ext>
            </a:extLst>
          </p:cNvPr>
          <p:cNvSpPr txBox="1"/>
          <p:nvPr/>
        </p:nvSpPr>
        <p:spPr>
          <a:xfrm>
            <a:off x="4382693" y="4411269"/>
            <a:ext cx="3812794" cy="276999"/>
          </a:xfrm>
          <a:prstGeom prst="rect">
            <a:avLst/>
          </a:prstGeom>
          <a:noFill/>
        </p:spPr>
        <p:txBody>
          <a:bodyPr wrap="square">
            <a:spAutoFit/>
          </a:bodyPr>
          <a:lstStyle/>
          <a:p>
            <a:r>
              <a:rPr lang="en-US" sz="1200" b="0" i="1" u="none" strike="noStrike" dirty="0">
                <a:solidFill>
                  <a:srgbClr val="000000"/>
                </a:solidFill>
                <a:effectLst/>
                <a:latin typeface="Times New Roman" panose="02020603050405020304" pitchFamily="18" charset="0"/>
                <a:cs typeface="Times New Roman" panose="02020603050405020304" pitchFamily="18" charset="0"/>
              </a:rPr>
              <a:t>Three Forecast Plots – ARIMA, ETS, Prophet side by side</a:t>
            </a:r>
          </a:p>
        </p:txBody>
      </p:sp>
    </p:spTree>
    <p:extLst>
      <p:ext uri="{BB962C8B-B14F-4D97-AF65-F5344CB8AC3E}">
        <p14:creationId xmlns:p14="http://schemas.microsoft.com/office/powerpoint/2010/main" val="64622706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A12FC4D6-29F9-975E-5307-10F6CF4F860E}"/>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A9B45789-A6C0-FF70-B368-8DBEC26CEDC5}"/>
              </a:ext>
            </a:extLst>
          </p:cNvPr>
          <p:cNvSpPr txBox="1"/>
          <p:nvPr/>
        </p:nvSpPr>
        <p:spPr>
          <a:xfrm>
            <a:off x="2596509" y="1211500"/>
            <a:ext cx="7385162" cy="634122"/>
          </a:xfrm>
          <a:prstGeom prst="rect">
            <a:avLst/>
          </a:prstGeom>
          <a:noFill/>
          <a:ln>
            <a:noFill/>
          </a:ln>
        </p:spPr>
        <p:txBody>
          <a:bodyPr spcFirstLastPara="1" wrap="square" lIns="91425" tIns="45700" rIns="91425" bIns="45700" anchor="ctr" anchorCtr="0">
            <a:noAutofit/>
          </a:bodyPr>
          <a:lstStyle/>
          <a:p>
            <a:pPr>
              <a:buClr>
                <a:schemeClr val="dk1"/>
              </a:buClr>
              <a:buSzPts val="4400"/>
            </a:pPr>
            <a:r>
              <a:rPr lang="en-IN" sz="4000" b="1" dirty="0">
                <a:latin typeface="Times New Roman" panose="02020603050405020304" pitchFamily="18" charset="0"/>
                <a:cs typeface="Times New Roman" panose="02020603050405020304" pitchFamily="18" charset="0"/>
              </a:rPr>
              <a:t>Objective 2 – </a:t>
            </a:r>
            <a:r>
              <a:rPr lang="en-IN" b="1" dirty="0"/>
              <a:t> </a:t>
            </a:r>
            <a:r>
              <a:rPr lang="en-IN" sz="4000" b="1" dirty="0">
                <a:latin typeface="Times New Roman" panose="02020603050405020304" pitchFamily="18" charset="0"/>
                <a:cs typeface="Times New Roman" panose="02020603050405020304" pitchFamily="18" charset="0"/>
              </a:rPr>
              <a:t>Future Projections</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599ACA63-1914-CA63-F3C2-1EA1FC5AAA57}"/>
              </a:ext>
            </a:extLst>
          </p:cNvPr>
          <p:cNvSpPr txBox="1"/>
          <p:nvPr/>
        </p:nvSpPr>
        <p:spPr>
          <a:xfrm>
            <a:off x="3490424" y="1814844"/>
            <a:ext cx="4948030" cy="397962"/>
          </a:xfrm>
          <a:prstGeom prst="rect">
            <a:avLst/>
          </a:prstGeom>
          <a:noFill/>
          <a:ln>
            <a:noFill/>
          </a:ln>
        </p:spPr>
        <p:txBody>
          <a:bodyPr spcFirstLastPara="1" wrap="square" lIns="91425" tIns="45700" rIns="91425" bIns="45700" anchor="t" anchorCtr="0">
            <a:spAutoFit/>
          </a:bodyPr>
          <a:lstStyle/>
          <a:p>
            <a:r>
              <a:rPr lang="en-IN" sz="2000" b="1" dirty="0">
                <a:latin typeface="Times New Roman" panose="02020603050405020304" pitchFamily="18" charset="0"/>
                <a:cs typeface="Times New Roman" panose="02020603050405020304" pitchFamily="18" charset="0"/>
              </a:rPr>
              <a:t>Validated Forecasts: 2025-2027 Projections</a:t>
            </a:r>
            <a:endParaRPr lang="en-US" sz="2000" b="1" dirty="0">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21FC80F2-67DC-CB9A-EDA1-19F570575CD0}"/>
              </a:ext>
            </a:extLst>
          </p:cNvPr>
          <p:cNvSpPr>
            <a:spLocks noChangeArrowheads="1"/>
          </p:cNvSpPr>
          <p:nvPr/>
        </p:nvSpPr>
        <p:spPr bwMode="auto">
          <a:xfrm>
            <a:off x="5438775" y="24352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2" name="Table 1">
            <a:extLst>
              <a:ext uri="{FF2B5EF4-FFF2-40B4-BE49-F238E27FC236}">
                <a16:creationId xmlns:a16="http://schemas.microsoft.com/office/drawing/2014/main" id="{ED145825-1CF4-29D1-7AB4-49BFBE3BCFE0}"/>
              </a:ext>
            </a:extLst>
          </p:cNvPr>
          <p:cNvGraphicFramePr>
            <a:graphicFrameLocks noGrp="1"/>
          </p:cNvGraphicFramePr>
          <p:nvPr>
            <p:extLst>
              <p:ext uri="{D42A27DB-BD31-4B8C-83A1-F6EECF244321}">
                <p14:modId xmlns:p14="http://schemas.microsoft.com/office/powerpoint/2010/main" val="1122016054"/>
              </p:ext>
            </p:extLst>
          </p:nvPr>
        </p:nvGraphicFramePr>
        <p:xfrm>
          <a:off x="7629761" y="2769665"/>
          <a:ext cx="4041255" cy="1842000"/>
        </p:xfrm>
        <a:graphic>
          <a:graphicData uri="http://schemas.openxmlformats.org/drawingml/2006/table">
            <a:tbl>
              <a:tblPr/>
              <a:tblGrid>
                <a:gridCol w="1314855">
                  <a:extLst>
                    <a:ext uri="{9D8B030D-6E8A-4147-A177-3AD203B41FA5}">
                      <a16:colId xmlns:a16="http://schemas.microsoft.com/office/drawing/2014/main" val="273441668"/>
                    </a:ext>
                  </a:extLst>
                </a:gridCol>
                <a:gridCol w="908800">
                  <a:extLst>
                    <a:ext uri="{9D8B030D-6E8A-4147-A177-3AD203B41FA5}">
                      <a16:colId xmlns:a16="http://schemas.microsoft.com/office/drawing/2014/main" val="627776237"/>
                    </a:ext>
                  </a:extLst>
                </a:gridCol>
                <a:gridCol w="908800">
                  <a:extLst>
                    <a:ext uri="{9D8B030D-6E8A-4147-A177-3AD203B41FA5}">
                      <a16:colId xmlns:a16="http://schemas.microsoft.com/office/drawing/2014/main" val="663454238"/>
                    </a:ext>
                  </a:extLst>
                </a:gridCol>
                <a:gridCol w="908800">
                  <a:extLst>
                    <a:ext uri="{9D8B030D-6E8A-4147-A177-3AD203B41FA5}">
                      <a16:colId xmlns:a16="http://schemas.microsoft.com/office/drawing/2014/main" val="3114850181"/>
                    </a:ext>
                  </a:extLst>
                </a:gridCol>
              </a:tblGrid>
              <a:tr h="460500">
                <a:tc>
                  <a:txBody>
                    <a:bodyPr/>
                    <a:lstStyle/>
                    <a:p>
                      <a:pPr algn="ctr" rtl="0" fontAlgn="t">
                        <a:buNone/>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Model</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1" i="0" u="none" strike="noStrike">
                          <a:solidFill>
                            <a:srgbClr val="000000"/>
                          </a:solidFill>
                          <a:effectLst/>
                          <a:latin typeface="Times New Roman" panose="02020603050405020304" pitchFamily="18" charset="0"/>
                          <a:cs typeface="Times New Roman" panose="02020603050405020304" pitchFamily="18" charset="0"/>
                        </a:rPr>
                        <a:t>2025</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1" i="0" u="none" strike="noStrike">
                          <a:solidFill>
                            <a:srgbClr val="000000"/>
                          </a:solidFill>
                          <a:effectLst/>
                          <a:latin typeface="Times New Roman" panose="02020603050405020304" pitchFamily="18" charset="0"/>
                          <a:cs typeface="Times New Roman" panose="02020603050405020304" pitchFamily="18" charset="0"/>
                        </a:rPr>
                        <a:t>2026</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1" i="0" u="none" strike="noStrike">
                          <a:solidFill>
                            <a:srgbClr val="000000"/>
                          </a:solidFill>
                          <a:effectLst/>
                          <a:latin typeface="Times New Roman" panose="02020603050405020304" pitchFamily="18" charset="0"/>
                          <a:cs typeface="Times New Roman" panose="02020603050405020304" pitchFamily="18" charset="0"/>
                        </a:rPr>
                        <a:t>2027</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4185909"/>
                  </a:ext>
                </a:extLst>
              </a:tr>
              <a:tr h="460500">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ARIMA</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66.5</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68.3</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70.0</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259800"/>
                  </a:ext>
                </a:extLst>
              </a:tr>
              <a:tr h="460500">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ETS</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65.4</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67.2</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69.0</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7156002"/>
                  </a:ext>
                </a:extLst>
              </a:tr>
              <a:tr h="460500">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Prophet</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65.4</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67.2</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69.1</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1215498"/>
                  </a:ext>
                </a:extLst>
              </a:tr>
            </a:tbl>
          </a:graphicData>
        </a:graphic>
      </p:graphicFrame>
      <p:sp>
        <p:nvSpPr>
          <p:cNvPr id="3" name="Rectangle 1">
            <a:extLst>
              <a:ext uri="{FF2B5EF4-FFF2-40B4-BE49-F238E27FC236}">
                <a16:creationId xmlns:a16="http://schemas.microsoft.com/office/drawing/2014/main" id="{D3996B07-38E3-0D27-5982-4AD3F68BAF69}"/>
              </a:ext>
            </a:extLst>
          </p:cNvPr>
          <p:cNvSpPr>
            <a:spLocks noChangeArrowheads="1"/>
          </p:cNvSpPr>
          <p:nvPr/>
        </p:nvSpPr>
        <p:spPr bwMode="auto">
          <a:xfrm>
            <a:off x="520984" y="3072782"/>
            <a:ext cx="9749288"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Key Observations: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Consistent upward trajectory across all models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Prophet and ETS projections closely aligned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ARIMA forecasts slightly higher, reflecting different trend </a:t>
            </a:r>
          </a:p>
          <a:p>
            <a:pPr marR="0" lvl="0" algn="l" defTabSz="914400" rtl="0" eaLnBrk="0" fontAlgn="base" latinLnBrk="0" hangingPunct="0">
              <a:lnSpc>
                <a:spcPct val="100000"/>
              </a:lnSpc>
              <a:spcBef>
                <a:spcPct val="0"/>
              </a:spcBef>
              <a:spcAft>
                <a:spcPct val="0"/>
              </a:spcAft>
              <a:buClrTx/>
              <a:buSzTx/>
              <a:tabLst/>
            </a:pP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assumptions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Forecast Characteristics:</a:t>
            </a:r>
            <a:endParaRPr lang="en-US" sz="2000"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Point estimates accompanied by 95% confidence intervals</a:t>
            </a: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Uncertainty increases with forecast horizon (appropriate statistical behavior)</a:t>
            </a: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Assumes continuation of historical trend patterns without structural breaks</a:t>
            </a:r>
          </a:p>
          <a:p>
            <a:r>
              <a:rPr lang="en-US" sz="2000" b="1" dirty="0">
                <a:latin typeface="Times New Roman" panose="02020603050405020304" pitchFamily="18" charset="0"/>
                <a:cs typeface="Times New Roman" panose="02020603050405020304" pitchFamily="18" charset="0"/>
              </a:rPr>
              <a:t>Practical Application:</a:t>
            </a:r>
            <a:r>
              <a:rPr lang="en-US" sz="2000" dirty="0">
                <a:latin typeface="Times New Roman" panose="02020603050405020304" pitchFamily="18" charset="0"/>
                <a:cs typeface="Times New Roman" panose="02020603050405020304" pitchFamily="18" charset="0"/>
              </a:rPr>
              <a:t> Budget planning, resource allocation, strategic market positioning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6C52D30-A3AC-0B02-4124-D7F38C77EB22}"/>
              </a:ext>
            </a:extLst>
          </p:cNvPr>
          <p:cNvSpPr txBox="1"/>
          <p:nvPr/>
        </p:nvSpPr>
        <p:spPr>
          <a:xfrm>
            <a:off x="520984" y="2663825"/>
            <a:ext cx="9035142"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3-Year Ahead Forecasts (Per-Capita Spending, USD):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3176469"/>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91D0590A-1229-9D4A-363A-EAE2EFBC8172}"/>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EE85F286-E7CD-6B10-78CF-0FEC3BB6543C}"/>
              </a:ext>
            </a:extLst>
          </p:cNvPr>
          <p:cNvSpPr txBox="1"/>
          <p:nvPr/>
        </p:nvSpPr>
        <p:spPr>
          <a:xfrm>
            <a:off x="994919" y="1242243"/>
            <a:ext cx="10226863" cy="634122"/>
          </a:xfrm>
          <a:prstGeom prst="rect">
            <a:avLst/>
          </a:prstGeom>
          <a:noFill/>
          <a:ln>
            <a:noFill/>
          </a:ln>
        </p:spPr>
        <p:txBody>
          <a:bodyPr spcFirstLastPara="1" wrap="square" lIns="91425" tIns="45700" rIns="91425" bIns="45700" anchor="ctr" anchorCtr="0">
            <a:noAutofit/>
          </a:bodyPr>
          <a:lstStyle/>
          <a:p>
            <a:pPr>
              <a:buClr>
                <a:schemeClr val="dk1"/>
              </a:buClr>
              <a:buSzPts val="4400"/>
            </a:pPr>
            <a:r>
              <a:rPr lang="en-IN" sz="4000" b="1" dirty="0">
                <a:latin typeface="Times New Roman" panose="02020603050405020304" pitchFamily="18" charset="0"/>
                <a:cs typeface="Times New Roman" panose="02020603050405020304" pitchFamily="18" charset="0"/>
              </a:rPr>
              <a:t>Objective 3 – </a:t>
            </a:r>
            <a:r>
              <a:rPr lang="en-IN" b="1" dirty="0"/>
              <a:t> </a:t>
            </a:r>
            <a:r>
              <a:rPr lang="en-IN" sz="4000" b="1" dirty="0">
                <a:latin typeface="Times New Roman" panose="02020603050405020304" pitchFamily="18" charset="0"/>
                <a:cs typeface="Times New Roman" panose="02020603050405020304" pitchFamily="18" charset="0"/>
              </a:rPr>
              <a:t>Multivariate Regression Results</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1376D27F-4953-3141-153E-A65EDFC83D65}"/>
              </a:ext>
            </a:extLst>
          </p:cNvPr>
          <p:cNvSpPr txBox="1"/>
          <p:nvPr/>
        </p:nvSpPr>
        <p:spPr>
          <a:xfrm>
            <a:off x="2795283" y="1815822"/>
            <a:ext cx="6601431" cy="401839"/>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Testing Spending Drivers: The Multicollinearity Problem</a:t>
            </a:r>
          </a:p>
        </p:txBody>
      </p:sp>
      <p:sp>
        <p:nvSpPr>
          <p:cNvPr id="7" name="Rectangle 1">
            <a:extLst>
              <a:ext uri="{FF2B5EF4-FFF2-40B4-BE49-F238E27FC236}">
                <a16:creationId xmlns:a16="http://schemas.microsoft.com/office/drawing/2014/main" id="{954A53B7-7488-B465-7388-1C4B3C541AF3}"/>
              </a:ext>
            </a:extLst>
          </p:cNvPr>
          <p:cNvSpPr>
            <a:spLocks noChangeArrowheads="1"/>
          </p:cNvSpPr>
          <p:nvPr/>
        </p:nvSpPr>
        <p:spPr bwMode="auto">
          <a:xfrm>
            <a:off x="5438775" y="24352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a16="http://schemas.microsoft.com/office/drawing/2014/main" id="{76E9D22D-0A3E-B3EF-3E7F-A33C57DA9D6E}"/>
              </a:ext>
            </a:extLst>
          </p:cNvPr>
          <p:cNvSpPr>
            <a:spLocks noChangeArrowheads="1"/>
          </p:cNvSpPr>
          <p:nvPr/>
        </p:nvSpPr>
        <p:spPr bwMode="auto">
          <a:xfrm>
            <a:off x="478393" y="3299983"/>
            <a:ext cx="11235213"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Model Fit Statistics:</a:t>
            </a:r>
            <a:endParaRPr lang="en-US" sz="2000" dirty="0">
              <a:latin typeface="Times New Roman" panose="02020603050405020304" pitchFamily="18" charset="0"/>
              <a:cs typeface="Times New Roman" panose="02020603050405020304" pitchFamily="18" charset="0"/>
            </a:endParaRPr>
          </a:p>
          <a:p>
            <a:pPr fontAlgn="base"/>
            <a:r>
              <a:rPr lang="en-US" sz="2000" dirty="0">
                <a:latin typeface="Times New Roman" panose="02020603050405020304" pitchFamily="18" charset="0"/>
                <a:cs typeface="Times New Roman" panose="02020603050405020304" pitchFamily="18" charset="0"/>
              </a:rPr>
              <a:t>Multiple R² = 0.9897 (98.97% variance explained)</a:t>
            </a:r>
          </a:p>
          <a:p>
            <a:pPr fontAlgn="base"/>
            <a:r>
              <a:rPr lang="en-US" sz="2000" dirty="0">
                <a:latin typeface="Times New Roman" panose="02020603050405020304" pitchFamily="18" charset="0"/>
                <a:cs typeface="Times New Roman" panose="02020603050405020304" pitchFamily="18" charset="0"/>
              </a:rPr>
              <a:t>Adjusted R² = 0.9795</a:t>
            </a:r>
          </a:p>
          <a:p>
            <a:pPr fontAlgn="base"/>
            <a:r>
              <a:rPr lang="en-US" sz="2000" dirty="0">
                <a:latin typeface="Times New Roman" panose="02020603050405020304" pitchFamily="18" charset="0"/>
                <a:cs typeface="Times New Roman" panose="02020603050405020304" pitchFamily="18" charset="0"/>
              </a:rPr>
              <a:t>F-statistic = 96.35, p = 0.010 (overall model significant</a:t>
            </a:r>
            <a:r>
              <a:rPr lang="en-US" sz="2000" dirty="0"/>
              <a:t>)</a:t>
            </a:r>
          </a:p>
        </p:txBody>
      </p:sp>
      <p:graphicFrame>
        <p:nvGraphicFramePr>
          <p:cNvPr id="4" name="Table 3">
            <a:extLst>
              <a:ext uri="{FF2B5EF4-FFF2-40B4-BE49-F238E27FC236}">
                <a16:creationId xmlns:a16="http://schemas.microsoft.com/office/drawing/2014/main" id="{BBBD1AB2-9A57-1179-3584-627F7851AF47}"/>
              </a:ext>
            </a:extLst>
          </p:cNvPr>
          <p:cNvGraphicFramePr>
            <a:graphicFrameLocks noGrp="1"/>
          </p:cNvGraphicFramePr>
          <p:nvPr>
            <p:extLst>
              <p:ext uri="{D42A27DB-BD31-4B8C-83A1-F6EECF244321}">
                <p14:modId xmlns:p14="http://schemas.microsoft.com/office/powerpoint/2010/main" val="1894449632"/>
              </p:ext>
            </p:extLst>
          </p:nvPr>
        </p:nvGraphicFramePr>
        <p:xfrm>
          <a:off x="490745" y="4639102"/>
          <a:ext cx="11429908" cy="1894840"/>
        </p:xfrm>
        <a:graphic>
          <a:graphicData uri="http://schemas.openxmlformats.org/drawingml/2006/table">
            <a:tbl>
              <a:tblPr/>
              <a:tblGrid>
                <a:gridCol w="2382669">
                  <a:extLst>
                    <a:ext uri="{9D8B030D-6E8A-4147-A177-3AD203B41FA5}">
                      <a16:colId xmlns:a16="http://schemas.microsoft.com/office/drawing/2014/main" val="2482178002"/>
                    </a:ext>
                  </a:extLst>
                </a:gridCol>
                <a:gridCol w="1502119">
                  <a:extLst>
                    <a:ext uri="{9D8B030D-6E8A-4147-A177-3AD203B41FA5}">
                      <a16:colId xmlns:a16="http://schemas.microsoft.com/office/drawing/2014/main" val="35232196"/>
                    </a:ext>
                  </a:extLst>
                </a:gridCol>
                <a:gridCol w="1502119">
                  <a:extLst>
                    <a:ext uri="{9D8B030D-6E8A-4147-A177-3AD203B41FA5}">
                      <a16:colId xmlns:a16="http://schemas.microsoft.com/office/drawing/2014/main" val="1592185018"/>
                    </a:ext>
                  </a:extLst>
                </a:gridCol>
                <a:gridCol w="1070473">
                  <a:extLst>
                    <a:ext uri="{9D8B030D-6E8A-4147-A177-3AD203B41FA5}">
                      <a16:colId xmlns:a16="http://schemas.microsoft.com/office/drawing/2014/main" val="2296532981"/>
                    </a:ext>
                  </a:extLst>
                </a:gridCol>
                <a:gridCol w="1139536">
                  <a:extLst>
                    <a:ext uri="{9D8B030D-6E8A-4147-A177-3AD203B41FA5}">
                      <a16:colId xmlns:a16="http://schemas.microsoft.com/office/drawing/2014/main" val="559828190"/>
                    </a:ext>
                  </a:extLst>
                </a:gridCol>
                <a:gridCol w="1916496">
                  <a:extLst>
                    <a:ext uri="{9D8B030D-6E8A-4147-A177-3AD203B41FA5}">
                      <a16:colId xmlns:a16="http://schemas.microsoft.com/office/drawing/2014/main" val="1253887881"/>
                    </a:ext>
                  </a:extLst>
                </a:gridCol>
                <a:gridCol w="1916496">
                  <a:extLst>
                    <a:ext uri="{9D8B030D-6E8A-4147-A177-3AD203B41FA5}">
                      <a16:colId xmlns:a16="http://schemas.microsoft.com/office/drawing/2014/main" val="601156444"/>
                    </a:ext>
                  </a:extLst>
                </a:gridCol>
              </a:tblGrid>
              <a:tr h="331652">
                <a:tc>
                  <a:txBody>
                    <a:bodyPr/>
                    <a:lstStyle/>
                    <a:p>
                      <a:pPr algn="ctr" rtl="0" fontAlgn="t">
                        <a:lnSpc>
                          <a:spcPct val="100000"/>
                        </a:lnSpc>
                        <a:buNone/>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Predictor</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1" i="0" u="none" strike="noStrike">
                          <a:solidFill>
                            <a:srgbClr val="000000"/>
                          </a:solidFill>
                          <a:effectLst/>
                          <a:latin typeface="Times New Roman" panose="02020603050405020304" pitchFamily="18" charset="0"/>
                          <a:cs typeface="Times New Roman" panose="02020603050405020304" pitchFamily="18" charset="0"/>
                        </a:rPr>
                        <a:t>Estimate</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1" i="0" u="none" strike="noStrike">
                          <a:solidFill>
                            <a:srgbClr val="000000"/>
                          </a:solidFill>
                          <a:effectLst/>
                          <a:latin typeface="Times New Roman" panose="02020603050405020304" pitchFamily="18" charset="0"/>
                          <a:cs typeface="Times New Roman" panose="02020603050405020304" pitchFamily="18" charset="0"/>
                        </a:rPr>
                        <a:t>Std. Error</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t-value</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p-value</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1" i="0" u="none" strike="noStrike" dirty="0">
                          <a:solidFill>
                            <a:srgbClr val="000000"/>
                          </a:solidFill>
                          <a:effectLst/>
                          <a:latin typeface="Times New Roman" panose="02020603050405020304" pitchFamily="18" charset="0"/>
                          <a:cs typeface="Times New Roman" panose="02020603050405020304" pitchFamily="18" charset="0"/>
                        </a:rPr>
                        <a:t>Significance</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buNone/>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Interpretation</a:t>
                      </a:r>
                      <a:endParaRPr lang="en-IN" sz="20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5574553"/>
                  </a:ext>
                </a:extLst>
              </a:tr>
              <a:tr h="387642">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Intercept</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98,631,393</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15,430,000</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0.639</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0.588</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Not significant</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buNone/>
                      </a:pPr>
                      <a:r>
                        <a:rPr lang="en-IN"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Baseline when X1, X2 = 0</a:t>
                      </a:r>
                      <a:endParaRPr lang="en-IN" sz="16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0999866"/>
                  </a:ext>
                </a:extLst>
              </a:tr>
              <a:tr h="387642">
                <a:tc>
                  <a:txBody>
                    <a:bodyPr/>
                    <a:lstStyle/>
                    <a:p>
                      <a:pPr algn="ctr" rtl="0" fontAlgn="t">
                        <a:lnSpc>
                          <a:spcPct val="100000"/>
                        </a:lnSpc>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Total Claims</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-6.98</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14.81</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-0.471</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0.684</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Not significant</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buNone/>
                      </a:pPr>
                      <a:r>
                        <a:rPr lang="en-IN"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Not significant; negative association</a:t>
                      </a:r>
                      <a:endParaRPr lang="en-IN" sz="16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6432768"/>
                  </a:ext>
                </a:extLst>
              </a:tr>
              <a:tr h="387642">
                <a:tc>
                  <a:txBody>
                    <a:bodyPr/>
                    <a:lstStyle/>
                    <a:p>
                      <a:pPr algn="ctr" rtl="0" fontAlgn="t">
                        <a:lnSpc>
                          <a:spcPct val="100000"/>
                        </a:lnSpc>
                        <a:buNone/>
                      </a:pPr>
                      <a:r>
                        <a:rPr lang="en-IN" sz="2000" b="0" i="0" u="none" strike="noStrike">
                          <a:solidFill>
                            <a:srgbClr val="000000"/>
                          </a:solidFill>
                          <a:effectLst/>
                          <a:latin typeface="Times New Roman" panose="02020603050405020304" pitchFamily="18" charset="0"/>
                          <a:cs typeface="Times New Roman" panose="02020603050405020304" pitchFamily="18" charset="0"/>
                        </a:rPr>
                        <a:t>Total Dosage Units</a:t>
                      </a:r>
                      <a:endParaRPr lang="en-IN" sz="200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0.32</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0.16</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1.938</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0.192</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lnSpc>
                          <a:spcPct val="100000"/>
                        </a:lnSpc>
                        <a:buNone/>
                      </a:pPr>
                      <a:r>
                        <a:rPr lang="en-IN" sz="2000" b="0" i="0" u="none" strike="noStrike" dirty="0">
                          <a:solidFill>
                            <a:srgbClr val="000000"/>
                          </a:solidFill>
                          <a:effectLst/>
                          <a:latin typeface="Times New Roman" panose="02020603050405020304" pitchFamily="18" charset="0"/>
                          <a:cs typeface="Times New Roman" panose="02020603050405020304" pitchFamily="18" charset="0"/>
                        </a:rPr>
                        <a:t>Not significant</a:t>
                      </a:r>
                      <a:endParaRPr lang="en-IN" sz="2000"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buNone/>
                      </a:pPr>
                      <a:r>
                        <a:rPr lang="en-IN" sz="1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Not significant; small positive association</a:t>
                      </a:r>
                      <a:endParaRPr lang="en-IN" sz="1600" dirty="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4290670"/>
                  </a:ext>
                </a:extLst>
              </a:tr>
            </a:tbl>
          </a:graphicData>
        </a:graphic>
      </p:graphicFrame>
      <p:sp>
        <p:nvSpPr>
          <p:cNvPr id="5" name="Rectangle 1">
            <a:extLst>
              <a:ext uri="{FF2B5EF4-FFF2-40B4-BE49-F238E27FC236}">
                <a16:creationId xmlns:a16="http://schemas.microsoft.com/office/drawing/2014/main" id="{7D84DA06-FFD3-9FE7-F44D-4E720EEB0F82}"/>
              </a:ext>
            </a:extLst>
          </p:cNvPr>
          <p:cNvSpPr>
            <a:spLocks noChangeArrowheads="1"/>
          </p:cNvSpPr>
          <p:nvPr/>
        </p:nvSpPr>
        <p:spPr bwMode="auto">
          <a:xfrm>
            <a:off x="4747459" y="6442502"/>
            <a:ext cx="2853587"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1"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Regression Coefficients Table</a:t>
            </a:r>
            <a:endPar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500" b="0" i="0" u="none" strike="noStrike" cap="none" normalizeH="0" baseline="0" dirty="0">
              <a:ln>
                <a:noFill/>
              </a:ln>
              <a:solidFill>
                <a:schemeClr val="tx1"/>
              </a:solidFill>
              <a:effectLst/>
            </a:endParaRPr>
          </a:p>
        </p:txBody>
      </p:sp>
      <p:pic>
        <p:nvPicPr>
          <p:cNvPr id="6" name="Picture 5">
            <a:extLst>
              <a:ext uri="{FF2B5EF4-FFF2-40B4-BE49-F238E27FC236}">
                <a16:creationId xmlns:a16="http://schemas.microsoft.com/office/drawing/2014/main" id="{19D7420A-8270-7FD8-31C4-2EEE9B725FCD}"/>
              </a:ext>
            </a:extLst>
          </p:cNvPr>
          <p:cNvPicPr>
            <a:picLocks noChangeAspect="1"/>
          </p:cNvPicPr>
          <p:nvPr/>
        </p:nvPicPr>
        <p:blipFill>
          <a:blip r:embed="rId3"/>
          <a:srcRect l="596" r="-1"/>
          <a:stretch>
            <a:fillRect/>
          </a:stretch>
        </p:blipFill>
        <p:spPr>
          <a:xfrm>
            <a:off x="490745" y="2271668"/>
            <a:ext cx="7648511" cy="445081"/>
          </a:xfrm>
          <a:prstGeom prst="rect">
            <a:avLst/>
          </a:prstGeom>
        </p:spPr>
      </p:pic>
      <p:pic>
        <p:nvPicPr>
          <p:cNvPr id="10" name="Picture 9">
            <a:extLst>
              <a:ext uri="{FF2B5EF4-FFF2-40B4-BE49-F238E27FC236}">
                <a16:creationId xmlns:a16="http://schemas.microsoft.com/office/drawing/2014/main" id="{460C51C2-FD15-8192-5F26-FCC4A7870B75}"/>
              </a:ext>
            </a:extLst>
          </p:cNvPr>
          <p:cNvPicPr>
            <a:picLocks noChangeAspect="1"/>
          </p:cNvPicPr>
          <p:nvPr/>
        </p:nvPicPr>
        <p:blipFill>
          <a:blip r:embed="rId4"/>
          <a:srcRect l="202"/>
          <a:stretch>
            <a:fillRect/>
          </a:stretch>
        </p:blipFill>
        <p:spPr>
          <a:xfrm>
            <a:off x="490745" y="2758836"/>
            <a:ext cx="8513428" cy="361833"/>
          </a:xfrm>
          <a:prstGeom prst="rect">
            <a:avLst/>
          </a:prstGeom>
        </p:spPr>
      </p:pic>
    </p:spTree>
    <p:extLst>
      <p:ext uri="{BB962C8B-B14F-4D97-AF65-F5344CB8AC3E}">
        <p14:creationId xmlns:p14="http://schemas.microsoft.com/office/powerpoint/2010/main" val="116289001"/>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9702902D-5AEE-56ED-022C-052DB395843B}"/>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635C3884-A401-37C6-6E02-0F6E1BB06DDE}"/>
              </a:ext>
            </a:extLst>
          </p:cNvPr>
          <p:cNvSpPr txBox="1"/>
          <p:nvPr/>
        </p:nvSpPr>
        <p:spPr>
          <a:xfrm>
            <a:off x="2480122" y="1181468"/>
            <a:ext cx="7256452" cy="634122"/>
          </a:xfrm>
          <a:prstGeom prst="rect">
            <a:avLst/>
          </a:prstGeom>
          <a:noFill/>
          <a:ln>
            <a:noFill/>
          </a:ln>
        </p:spPr>
        <p:txBody>
          <a:bodyPr spcFirstLastPara="1" wrap="square" lIns="91425" tIns="45700" rIns="91425" bIns="45700" anchor="ctr" anchorCtr="0">
            <a:noAutofit/>
          </a:bodyPr>
          <a:lstStyle/>
          <a:p>
            <a:pPr>
              <a:buClr>
                <a:schemeClr val="dk1"/>
              </a:buClr>
              <a:buSzPts val="4400"/>
            </a:pPr>
            <a:r>
              <a:rPr lang="en-IN" sz="4000" b="1" dirty="0">
                <a:latin typeface="Times New Roman" panose="02020603050405020304" pitchFamily="18" charset="0"/>
                <a:cs typeface="Times New Roman" panose="02020603050405020304" pitchFamily="18" charset="0"/>
              </a:rPr>
              <a:t>Objective 3 – </a:t>
            </a:r>
            <a:r>
              <a:rPr lang="en-IN" b="1" dirty="0"/>
              <a:t> </a:t>
            </a:r>
            <a:r>
              <a:rPr lang="en-IN" sz="4000" b="1" dirty="0">
                <a:latin typeface="Times New Roman" panose="02020603050405020304" pitchFamily="18" charset="0"/>
                <a:cs typeface="Times New Roman" panose="02020603050405020304" pitchFamily="18" charset="0"/>
              </a:rPr>
              <a:t>Diagnostic Results</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C0DB4763-033B-B79C-592B-D7CB5C710A92}"/>
              </a:ext>
            </a:extLst>
          </p:cNvPr>
          <p:cNvSpPr txBox="1"/>
          <p:nvPr/>
        </p:nvSpPr>
        <p:spPr>
          <a:xfrm>
            <a:off x="3897648" y="1818253"/>
            <a:ext cx="4396704" cy="400069"/>
          </a:xfrm>
          <a:prstGeom prst="rect">
            <a:avLst/>
          </a:prstGeom>
          <a:noFill/>
          <a:ln>
            <a:noFill/>
          </a:ln>
        </p:spPr>
        <p:txBody>
          <a:bodyPr spcFirstLastPara="1" wrap="square" lIns="91425" tIns="45700" rIns="91425" bIns="45700" anchor="t" anchorCtr="0">
            <a:spAutoFit/>
          </a:bodyPr>
          <a:lstStyle/>
          <a:p>
            <a:r>
              <a:rPr lang="en-IN" sz="2000" b="1" dirty="0">
                <a:latin typeface="Times New Roman" panose="02020603050405020304" pitchFamily="18" charset="0"/>
                <a:cs typeface="Times New Roman" panose="02020603050405020304" pitchFamily="18" charset="0"/>
              </a:rPr>
              <a:t>Understanding the Regression Failure</a:t>
            </a:r>
            <a:endParaRPr lang="en-US" sz="3200" b="1" dirty="0">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7934DED5-1A52-63C4-97B0-BB6372EAC643}"/>
              </a:ext>
            </a:extLst>
          </p:cNvPr>
          <p:cNvSpPr>
            <a:spLocks noChangeArrowheads="1"/>
          </p:cNvSpPr>
          <p:nvPr/>
        </p:nvSpPr>
        <p:spPr bwMode="auto">
          <a:xfrm>
            <a:off x="5438775" y="24352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 name="Rectangle 1">
            <a:extLst>
              <a:ext uri="{FF2B5EF4-FFF2-40B4-BE49-F238E27FC236}">
                <a16:creationId xmlns:a16="http://schemas.microsoft.com/office/drawing/2014/main" id="{2BDC8F3B-55C4-87E7-026A-C80872628D41}"/>
              </a:ext>
            </a:extLst>
          </p:cNvPr>
          <p:cNvSpPr>
            <a:spLocks noChangeArrowheads="1"/>
          </p:cNvSpPr>
          <p:nvPr/>
        </p:nvSpPr>
        <p:spPr bwMode="auto">
          <a:xfrm>
            <a:off x="6403219" y="2323755"/>
            <a:ext cx="5788781"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Counterintuitive Finding:</a:t>
            </a:r>
            <a:endParaRPr lang="en-US" sz="2000"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Negative coefficient for Total Claims (β₁ = -6.98) contradicts economic logic</a:t>
            </a: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Mathematical artifact of multicollinearity, not genuine market behavior</a:t>
            </a:r>
          </a:p>
          <a:p>
            <a:r>
              <a:rPr lang="en-US" sz="2000" b="1" dirty="0">
                <a:latin typeface="Times New Roman" panose="02020603050405020304" pitchFamily="18" charset="0"/>
                <a:cs typeface="Times New Roman" panose="02020603050405020304" pitchFamily="18" charset="0"/>
              </a:rPr>
              <a:t>Log-Log Transformation Attempt:</a:t>
            </a:r>
            <a:endParaRPr lang="en-US" sz="2000"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Applied to address non-linear relationships and exponential growth</a:t>
            </a: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Result: Similar outcomes (high R² but insignificant predictors)</a:t>
            </a: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Transformation preserves monotonic relationships, fails to resolve multicollinearity</a:t>
            </a:r>
          </a:p>
        </p:txBody>
      </p:sp>
      <p:sp>
        <p:nvSpPr>
          <p:cNvPr id="8" name="TextBox 7">
            <a:extLst>
              <a:ext uri="{FF2B5EF4-FFF2-40B4-BE49-F238E27FC236}">
                <a16:creationId xmlns:a16="http://schemas.microsoft.com/office/drawing/2014/main" id="{DD4D8604-F3DE-38BC-5E67-DB5B57E2C23D}"/>
              </a:ext>
            </a:extLst>
          </p:cNvPr>
          <p:cNvSpPr txBox="1"/>
          <p:nvPr/>
        </p:nvSpPr>
        <p:spPr>
          <a:xfrm>
            <a:off x="435803" y="2269707"/>
            <a:ext cx="5967416" cy="3477875"/>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The Paradox:</a:t>
            </a:r>
            <a:endParaRPr lang="en-US" sz="2000"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Overall model highly significant (R² = 0.99, p = 0.01)</a:t>
            </a: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Individual predictors NOT significant (p &gt; 0.05)</a:t>
            </a: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Classic symptom of severe multicollinearity</a:t>
            </a:r>
          </a:p>
          <a:p>
            <a:r>
              <a:rPr lang="en-US" sz="2000" b="1" dirty="0">
                <a:latin typeface="Times New Roman" panose="02020603050405020304" pitchFamily="18" charset="0"/>
                <a:cs typeface="Times New Roman" panose="02020603050405020304" pitchFamily="18" charset="0"/>
              </a:rPr>
              <a:t>Diagnosis:</a:t>
            </a:r>
            <a:endParaRPr lang="en-US" sz="2000" dirty="0">
              <a:latin typeface="Times New Roman" panose="02020603050405020304" pitchFamily="18" charset="0"/>
              <a:cs typeface="Times New Roman" panose="02020603050405020304" pitchFamily="18" charset="0"/>
            </a:endParaRP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Correlation matrix reveals r &gt; 0.95 between all predictors</a:t>
            </a: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variables share identical strong time trend (2019-2023 upward movement)</a:t>
            </a:r>
          </a:p>
          <a:p>
            <a:pPr marL="285750" indent="-285750"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Regression cannot distinguish individual effects when predictors move in perfect lockstep</a:t>
            </a:r>
          </a:p>
        </p:txBody>
      </p:sp>
      <p:sp>
        <p:nvSpPr>
          <p:cNvPr id="6" name="TextBox 5">
            <a:extLst>
              <a:ext uri="{FF2B5EF4-FFF2-40B4-BE49-F238E27FC236}">
                <a16:creationId xmlns:a16="http://schemas.microsoft.com/office/drawing/2014/main" id="{51E941CC-D180-AC10-8F1C-9C19E1838545}"/>
              </a:ext>
            </a:extLst>
          </p:cNvPr>
          <p:cNvSpPr txBox="1"/>
          <p:nvPr/>
        </p:nvSpPr>
        <p:spPr>
          <a:xfrm>
            <a:off x="520984" y="6020998"/>
            <a:ext cx="11235213" cy="707886"/>
          </a:xfrm>
          <a:prstGeom prst="rect">
            <a:avLst/>
          </a:prstGeom>
          <a:noFill/>
        </p:spPr>
        <p:txBody>
          <a:bodyPr wrap="square">
            <a:spAutoFit/>
          </a:bodyPr>
          <a:lstStyle/>
          <a:p>
            <a:pPr rtl="0">
              <a:spcBef>
                <a:spcPts val="1200"/>
              </a:spcBef>
              <a:spcAft>
                <a:spcPts val="1200"/>
              </a:spcAft>
              <a:buNone/>
            </a:pPr>
            <a:r>
              <a:rPr lang="en-US" sz="2000" b="1" i="0" u="none" strike="noStrike" dirty="0">
                <a:solidFill>
                  <a:srgbClr val="000000"/>
                </a:solidFill>
                <a:effectLst/>
                <a:latin typeface="Times New Roman" panose="02020603050405020304" pitchFamily="18" charset="0"/>
                <a:cs typeface="Times New Roman" panose="02020603050405020304" pitchFamily="18" charset="0"/>
              </a:rPr>
              <a:t>Methodological Conclusion:</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 Multivariate regression inappropriate for this dataset due to: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Small sample size (n=5</a:t>
            </a:r>
            <a:r>
              <a:rPr lang="en-US" sz="2000" dirty="0">
                <a:latin typeface="Times New Roman" panose="02020603050405020304" pitchFamily="18" charset="0"/>
                <a:cs typeface="Times New Roman" panose="02020603050405020304" pitchFamily="18" charset="0"/>
              </a:rPr>
              <a:t>); (ii) </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Perfect temporal correlation</a:t>
            </a:r>
            <a:r>
              <a:rPr lang="en-US" sz="2000" dirty="0">
                <a:latin typeface="Times New Roman" panose="02020603050405020304" pitchFamily="18" charset="0"/>
                <a:cs typeface="Times New Roman" panose="02020603050405020304" pitchFamily="18" charset="0"/>
              </a:rPr>
              <a:t>; (iii) </a:t>
            </a:r>
            <a:r>
              <a:rPr lang="en-US" sz="2000" b="0" i="0" u="none" strike="noStrike" dirty="0">
                <a:solidFill>
                  <a:srgbClr val="000000"/>
                </a:solidFill>
                <a:effectLst/>
                <a:latin typeface="Times New Roman" panose="02020603050405020304" pitchFamily="18" charset="0"/>
                <a:cs typeface="Times New Roman" panose="02020603050405020304" pitchFamily="18" charset="0"/>
              </a:rPr>
              <a:t>Inability to isolate independent predictor effects</a:t>
            </a:r>
          </a:p>
        </p:txBody>
      </p:sp>
    </p:spTree>
    <p:extLst>
      <p:ext uri="{BB962C8B-B14F-4D97-AF65-F5344CB8AC3E}">
        <p14:creationId xmlns:p14="http://schemas.microsoft.com/office/powerpoint/2010/main" val="164623410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5;p9">
            <a:extLst>
              <a:ext uri="{FF2B5EF4-FFF2-40B4-BE49-F238E27FC236}">
                <a16:creationId xmlns:a16="http://schemas.microsoft.com/office/drawing/2014/main" id="{4B4A783B-BAA7-5FB6-7804-B4750AE0D174}"/>
              </a:ext>
            </a:extLst>
          </p:cNvPr>
          <p:cNvSpPr txBox="1"/>
          <p:nvPr/>
        </p:nvSpPr>
        <p:spPr>
          <a:xfrm>
            <a:off x="970996" y="1012723"/>
            <a:ext cx="10274710" cy="783738"/>
          </a:xfrm>
          <a:prstGeom prst="rect">
            <a:avLst/>
          </a:prstGeom>
          <a:noFill/>
          <a:ln>
            <a:noFill/>
          </a:ln>
        </p:spPr>
        <p:txBody>
          <a:bodyPr spcFirstLastPara="1" wrap="square" lIns="91425" tIns="45700" rIns="91425" bIns="45700" anchor="ctr" anchorCtr="0">
            <a:noAutofit/>
          </a:bodyPr>
          <a:lstStyle/>
          <a:p>
            <a:pPr>
              <a:buClr>
                <a:schemeClr val="dk1"/>
              </a:buClr>
              <a:buSzPts val="4400"/>
            </a:pPr>
            <a:r>
              <a:rPr lang="en-IN" sz="4000" b="1" dirty="0">
                <a:latin typeface="Times New Roman" panose="02020603050405020304" pitchFamily="18" charset="0"/>
                <a:cs typeface="Times New Roman" panose="02020603050405020304" pitchFamily="18" charset="0"/>
              </a:rPr>
              <a:t>Objective 4 – Exponential Smoothing Forecast</a:t>
            </a:r>
            <a:endParaRPr sz="4000" b="1" dirty="0">
              <a:latin typeface="Times New Roman" panose="02020603050405020304" pitchFamily="18" charset="0"/>
              <a:cs typeface="Times New Roman" panose="02020603050405020304" pitchFamily="18" charset="0"/>
            </a:endParaRPr>
          </a:p>
        </p:txBody>
      </p:sp>
      <p:sp>
        <p:nvSpPr>
          <p:cNvPr id="3" name="Google Shape;136;p9">
            <a:extLst>
              <a:ext uri="{FF2B5EF4-FFF2-40B4-BE49-F238E27FC236}">
                <a16:creationId xmlns:a16="http://schemas.microsoft.com/office/drawing/2014/main" id="{8CFEF29A-0F65-615C-57CC-ADF98EA27F7C}"/>
              </a:ext>
            </a:extLst>
          </p:cNvPr>
          <p:cNvSpPr txBox="1"/>
          <p:nvPr/>
        </p:nvSpPr>
        <p:spPr>
          <a:xfrm>
            <a:off x="490745" y="1925373"/>
            <a:ext cx="11235213" cy="707846"/>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Aim: </a:t>
            </a:r>
            <a:r>
              <a:rPr lang="en-IN" sz="2000" dirty="0">
                <a:latin typeface="Times New Roman" panose="02020603050405020304" pitchFamily="18" charset="0"/>
                <a:cs typeface="Times New Roman" panose="02020603050405020304" pitchFamily="18" charset="0"/>
              </a:rPr>
              <a:t>Prediction of total spending on antidepressant drugs for the next 3 years using Exponential Smoothing (ETS) model. </a:t>
            </a:r>
          </a:p>
        </p:txBody>
      </p:sp>
      <p:sp>
        <p:nvSpPr>
          <p:cNvPr id="4" name="Google Shape;136;p9">
            <a:extLst>
              <a:ext uri="{FF2B5EF4-FFF2-40B4-BE49-F238E27FC236}">
                <a16:creationId xmlns:a16="http://schemas.microsoft.com/office/drawing/2014/main" id="{BB9C1DF9-7CB9-D494-D938-3E4162D31D81}"/>
              </a:ext>
            </a:extLst>
          </p:cNvPr>
          <p:cNvSpPr txBox="1"/>
          <p:nvPr/>
        </p:nvSpPr>
        <p:spPr>
          <a:xfrm>
            <a:off x="490745" y="2634828"/>
            <a:ext cx="5459753" cy="2246729"/>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Checking the Accuracy of the model: </a:t>
            </a:r>
            <a:r>
              <a:rPr lang="en-IN" sz="2000" dirty="0">
                <a:latin typeface="Times New Roman" panose="02020603050405020304" pitchFamily="18" charset="0"/>
                <a:cs typeface="Times New Roman" panose="02020603050405020304" pitchFamily="18" charset="0"/>
              </a:rPr>
              <a:t>Forecasting proves that the model is an excellent fit for the data and the Total spending for the years 2022 and 2023 are approximately same. So, this respective model can help in predicting the total spending for antidepressant drugs for next 3 years. </a:t>
            </a:r>
          </a:p>
          <a:p>
            <a:endParaRPr lang="en-US" sz="2000" b="1" dirty="0">
              <a:latin typeface="Times New Roman" panose="02020603050405020304" pitchFamily="18" charset="0"/>
              <a:cs typeface="Times New Roman" panose="02020603050405020304" pitchFamily="18" charset="0"/>
            </a:endParaRPr>
          </a:p>
        </p:txBody>
      </p:sp>
      <p:pic>
        <p:nvPicPr>
          <p:cNvPr id="5" name="Picture 4" descr="A number and text on a white background&#10;&#10;AI-generated content may be incorrect.">
            <a:extLst>
              <a:ext uri="{FF2B5EF4-FFF2-40B4-BE49-F238E27FC236}">
                <a16:creationId xmlns:a16="http://schemas.microsoft.com/office/drawing/2014/main" id="{FA56EAC4-FFA8-0363-D83D-98766EC1F8B6}"/>
              </a:ext>
            </a:extLst>
          </p:cNvPr>
          <p:cNvPicPr>
            <a:picLocks noChangeAspect="1"/>
          </p:cNvPicPr>
          <p:nvPr/>
        </p:nvPicPr>
        <p:blipFill>
          <a:blip r:embed="rId2"/>
          <a:srcRect l="4499"/>
          <a:stretch>
            <a:fillRect/>
          </a:stretch>
        </p:blipFill>
        <p:spPr>
          <a:xfrm>
            <a:off x="7815923" y="3114096"/>
            <a:ext cx="2961677" cy="1767461"/>
          </a:xfrm>
          <a:prstGeom prst="rect">
            <a:avLst/>
          </a:prstGeom>
          <a:ln>
            <a:solidFill>
              <a:schemeClr val="tx1"/>
            </a:solidFill>
          </a:ln>
        </p:spPr>
      </p:pic>
      <p:pic>
        <p:nvPicPr>
          <p:cNvPr id="6" name="Picture 5" descr="A number on a white background&#10;&#10;AI-generated content may be incorrect.">
            <a:extLst>
              <a:ext uri="{FF2B5EF4-FFF2-40B4-BE49-F238E27FC236}">
                <a16:creationId xmlns:a16="http://schemas.microsoft.com/office/drawing/2014/main" id="{6FA5F008-CA7D-6184-5765-C52D545E754A}"/>
              </a:ext>
            </a:extLst>
          </p:cNvPr>
          <p:cNvPicPr>
            <a:picLocks noChangeAspect="1"/>
          </p:cNvPicPr>
          <p:nvPr/>
        </p:nvPicPr>
        <p:blipFill>
          <a:blip r:embed="rId3"/>
          <a:stretch>
            <a:fillRect/>
          </a:stretch>
        </p:blipFill>
        <p:spPr>
          <a:xfrm>
            <a:off x="1414399" y="5013222"/>
            <a:ext cx="9363201" cy="1664109"/>
          </a:xfrm>
          <a:prstGeom prst="rect">
            <a:avLst/>
          </a:prstGeom>
          <a:ln>
            <a:solidFill>
              <a:schemeClr val="tx1"/>
            </a:solidFill>
          </a:ln>
        </p:spPr>
      </p:pic>
      <p:sp>
        <p:nvSpPr>
          <p:cNvPr id="9" name="TextBox 8">
            <a:extLst>
              <a:ext uri="{FF2B5EF4-FFF2-40B4-BE49-F238E27FC236}">
                <a16:creationId xmlns:a16="http://schemas.microsoft.com/office/drawing/2014/main" id="{077FFF36-510C-8F8C-788B-8B10A1F0389E}"/>
              </a:ext>
            </a:extLst>
          </p:cNvPr>
          <p:cNvSpPr txBox="1"/>
          <p:nvPr/>
        </p:nvSpPr>
        <p:spPr>
          <a:xfrm>
            <a:off x="6744391" y="2653867"/>
            <a:ext cx="5295208"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Original vs Predicted data (Train vs Test data)</a:t>
            </a:r>
          </a:p>
        </p:txBody>
      </p:sp>
    </p:spTree>
    <p:extLst>
      <p:ext uri="{BB962C8B-B14F-4D97-AF65-F5344CB8AC3E}">
        <p14:creationId xmlns:p14="http://schemas.microsoft.com/office/powerpoint/2010/main" val="110657882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5;p9">
            <a:extLst>
              <a:ext uri="{FF2B5EF4-FFF2-40B4-BE49-F238E27FC236}">
                <a16:creationId xmlns:a16="http://schemas.microsoft.com/office/drawing/2014/main" id="{1DEF6FDC-E2CA-64BB-4E7B-7EC76E5B0591}"/>
              </a:ext>
            </a:extLst>
          </p:cNvPr>
          <p:cNvSpPr txBox="1"/>
          <p:nvPr/>
        </p:nvSpPr>
        <p:spPr>
          <a:xfrm>
            <a:off x="958645" y="969817"/>
            <a:ext cx="10274710" cy="783738"/>
          </a:xfrm>
          <a:prstGeom prst="rect">
            <a:avLst/>
          </a:prstGeom>
          <a:noFill/>
          <a:ln>
            <a:noFill/>
          </a:ln>
        </p:spPr>
        <p:txBody>
          <a:bodyPr spcFirstLastPara="1" wrap="square" lIns="91425" tIns="45700" rIns="91425" bIns="45700" anchor="ctr" anchorCtr="0">
            <a:noAutofit/>
          </a:bodyPr>
          <a:lstStyle/>
          <a:p>
            <a:pPr>
              <a:buClr>
                <a:schemeClr val="dk1"/>
              </a:buClr>
              <a:buSzPts val="4400"/>
            </a:pPr>
            <a:r>
              <a:rPr lang="en-IN" sz="4000" b="1" dirty="0">
                <a:latin typeface="Times New Roman" panose="02020603050405020304" pitchFamily="18" charset="0"/>
                <a:cs typeface="Times New Roman" panose="02020603050405020304" pitchFamily="18" charset="0"/>
              </a:rPr>
              <a:t>Objective 4 – Exponential Smoothing Forecast</a:t>
            </a:r>
            <a:endParaRPr sz="4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0E2025D-ED2F-29BE-9069-43CFB1B8C755}"/>
              </a:ext>
            </a:extLst>
          </p:cNvPr>
          <p:cNvPicPr>
            <a:picLocks noChangeAspect="1"/>
          </p:cNvPicPr>
          <p:nvPr/>
        </p:nvPicPr>
        <p:blipFill>
          <a:blip r:embed="rId2"/>
          <a:stretch>
            <a:fillRect/>
          </a:stretch>
        </p:blipFill>
        <p:spPr>
          <a:xfrm>
            <a:off x="6006996" y="1965165"/>
            <a:ext cx="4984955" cy="1339850"/>
          </a:xfrm>
          <a:prstGeom prst="rect">
            <a:avLst/>
          </a:prstGeom>
          <a:ln>
            <a:solidFill>
              <a:schemeClr val="tx1"/>
            </a:solidFill>
          </a:ln>
        </p:spPr>
      </p:pic>
      <p:pic>
        <p:nvPicPr>
          <p:cNvPr id="4" name="Picture 3">
            <a:extLst>
              <a:ext uri="{FF2B5EF4-FFF2-40B4-BE49-F238E27FC236}">
                <a16:creationId xmlns:a16="http://schemas.microsoft.com/office/drawing/2014/main" id="{F672C31F-1A68-D3CB-7753-4ADBF414BFD9}"/>
              </a:ext>
            </a:extLst>
          </p:cNvPr>
          <p:cNvPicPr>
            <a:picLocks noChangeAspect="1"/>
          </p:cNvPicPr>
          <p:nvPr/>
        </p:nvPicPr>
        <p:blipFill>
          <a:blip r:embed="rId3"/>
          <a:stretch>
            <a:fillRect/>
          </a:stretch>
        </p:blipFill>
        <p:spPr>
          <a:xfrm>
            <a:off x="6006997" y="3516625"/>
            <a:ext cx="4984955" cy="3175641"/>
          </a:xfrm>
          <a:prstGeom prst="rect">
            <a:avLst/>
          </a:prstGeom>
          <a:ln>
            <a:solidFill>
              <a:schemeClr val="tx1"/>
            </a:solidFill>
          </a:ln>
        </p:spPr>
      </p:pic>
      <p:sp>
        <p:nvSpPr>
          <p:cNvPr id="9" name="TextBox 8">
            <a:extLst>
              <a:ext uri="{FF2B5EF4-FFF2-40B4-BE49-F238E27FC236}">
                <a16:creationId xmlns:a16="http://schemas.microsoft.com/office/drawing/2014/main" id="{4EB41FD1-8FA8-7824-D73A-B756711FF06A}"/>
              </a:ext>
            </a:extLst>
          </p:cNvPr>
          <p:cNvSpPr txBox="1"/>
          <p:nvPr/>
        </p:nvSpPr>
        <p:spPr>
          <a:xfrm>
            <a:off x="422788" y="2051159"/>
            <a:ext cx="4984954" cy="4678204"/>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Forecast:</a:t>
            </a:r>
            <a:r>
              <a:rPr lang="en-US" sz="2000" dirty="0">
                <a:latin typeface="Times New Roman" panose="02020603050405020304" pitchFamily="18" charset="0"/>
                <a:cs typeface="Times New Roman" panose="02020603050405020304" pitchFamily="18" charset="0"/>
              </a:rPr>
              <a:t> The ETS model was utilized to generate approximate forecasts for total spending over the next three fiscal years (2024, 2025, and 2026).</a:t>
            </a:r>
          </a:p>
          <a:p>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Key Finding on Spending Trend:</a:t>
            </a:r>
            <a:r>
              <a:rPr lang="en-US" sz="2000" dirty="0">
                <a:latin typeface="Times New Roman" panose="02020603050405020304" pitchFamily="18" charset="0"/>
                <a:cs typeface="Times New Roman" panose="02020603050405020304" pitchFamily="18" charset="0"/>
              </a:rPr>
              <a:t> The analysis of historical and forecasted data reveals a consistent, </a:t>
            </a:r>
            <a:r>
              <a:rPr lang="en-US" sz="2000" b="1" dirty="0">
                <a:latin typeface="Times New Roman" panose="02020603050405020304" pitchFamily="18" charset="0"/>
                <a:cs typeface="Times New Roman" panose="02020603050405020304" pitchFamily="18" charset="0"/>
              </a:rPr>
              <a:t>linear upward trend</a:t>
            </a:r>
            <a:r>
              <a:rPr lang="en-US" sz="2000" dirty="0">
                <a:latin typeface="Times New Roman" panose="02020603050405020304" pitchFamily="18" charset="0"/>
                <a:cs typeface="Times New Roman" panose="02020603050405020304" pitchFamily="18" charset="0"/>
              </a:rPr>
              <a:t> in total spending year-over-year.</a:t>
            </a:r>
          </a:p>
          <a:p>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Conclusion and Implication:</a:t>
            </a:r>
            <a:r>
              <a:rPr lang="en-US" sz="2000" dirty="0">
                <a:latin typeface="Times New Roman" panose="02020603050405020304" pitchFamily="18" charset="0"/>
                <a:cs typeface="Times New Roman" panose="02020603050405020304" pitchFamily="18" charset="0"/>
              </a:rPr>
              <a:t> This sustained linear growth strongly implies a continuing </a:t>
            </a:r>
            <a:r>
              <a:rPr lang="en-US" sz="2000" b="1" dirty="0">
                <a:latin typeface="Times New Roman" panose="02020603050405020304" pitchFamily="18" charset="0"/>
                <a:cs typeface="Times New Roman" panose="02020603050405020304" pitchFamily="18" charset="0"/>
              </a:rPr>
              <a:t>increase in the utilization of Antidepressant drugs</a:t>
            </a:r>
            <a:r>
              <a:rPr lang="en-US" sz="2000" dirty="0">
                <a:latin typeface="Times New Roman" panose="02020603050405020304" pitchFamily="18" charset="0"/>
                <a:cs typeface="Times New Roman" panose="02020603050405020304" pitchFamily="18" charset="0"/>
              </a:rPr>
              <a:t> over time.</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03307"/>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5;p9">
            <a:extLst>
              <a:ext uri="{FF2B5EF4-FFF2-40B4-BE49-F238E27FC236}">
                <a16:creationId xmlns:a16="http://schemas.microsoft.com/office/drawing/2014/main" id="{48F66D54-E2D5-1277-0CFE-531DC0A0868D}"/>
              </a:ext>
            </a:extLst>
          </p:cNvPr>
          <p:cNvSpPr txBox="1"/>
          <p:nvPr/>
        </p:nvSpPr>
        <p:spPr>
          <a:xfrm>
            <a:off x="1261672" y="1092126"/>
            <a:ext cx="9668655" cy="634122"/>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IN" sz="4000" b="1" dirty="0">
                <a:latin typeface="Times New Roman" panose="02020603050405020304" pitchFamily="18" charset="0"/>
                <a:cs typeface="Times New Roman" panose="02020603050405020304" pitchFamily="18" charset="0"/>
              </a:rPr>
              <a:t>Objective 5 – Drug Specific Trend Analysis</a:t>
            </a:r>
            <a:endParaRPr sz="4000" b="1" dirty="0">
              <a:latin typeface="Times New Roman" panose="02020603050405020304" pitchFamily="18" charset="0"/>
              <a:cs typeface="Times New Roman" panose="02020603050405020304" pitchFamily="18" charset="0"/>
            </a:endParaRPr>
          </a:p>
        </p:txBody>
      </p:sp>
      <p:sp>
        <p:nvSpPr>
          <p:cNvPr id="3" name="Google Shape;136;p9">
            <a:extLst>
              <a:ext uri="{FF2B5EF4-FFF2-40B4-BE49-F238E27FC236}">
                <a16:creationId xmlns:a16="http://schemas.microsoft.com/office/drawing/2014/main" id="{D5564079-36F1-476D-19F3-7EA4AAF47AA1}"/>
              </a:ext>
            </a:extLst>
          </p:cNvPr>
          <p:cNvSpPr txBox="1"/>
          <p:nvPr/>
        </p:nvSpPr>
        <p:spPr>
          <a:xfrm>
            <a:off x="193258" y="1756365"/>
            <a:ext cx="11235213" cy="1261844"/>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Aim:</a:t>
            </a:r>
            <a:r>
              <a:rPr lang="en-IN" sz="2000" dirty="0">
                <a:latin typeface="Times New Roman" panose="02020603050405020304" pitchFamily="18" charset="0"/>
                <a:cs typeface="Times New Roman" panose="02020603050405020304" pitchFamily="18" charset="0"/>
              </a:rPr>
              <a:t>To find the top 3 highly recommended antidepressant drugs and their growth trends based on total claims and beneficiaries. </a:t>
            </a:r>
          </a:p>
          <a:p>
            <a:endParaRPr lang="en-IN" sz="1800"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p:txBody>
      </p:sp>
      <p:sp>
        <p:nvSpPr>
          <p:cNvPr id="5" name="Google Shape;136;p9">
            <a:extLst>
              <a:ext uri="{FF2B5EF4-FFF2-40B4-BE49-F238E27FC236}">
                <a16:creationId xmlns:a16="http://schemas.microsoft.com/office/drawing/2014/main" id="{19D3E8AB-7A17-F16A-6A31-AE3364FB5154}"/>
              </a:ext>
            </a:extLst>
          </p:cNvPr>
          <p:cNvSpPr txBox="1"/>
          <p:nvPr/>
        </p:nvSpPr>
        <p:spPr>
          <a:xfrm>
            <a:off x="335825" y="2518247"/>
            <a:ext cx="11235213" cy="707846"/>
          </a:xfrm>
          <a:prstGeom prst="rect">
            <a:avLst/>
          </a:prstGeom>
          <a:noFill/>
          <a:ln>
            <a:noFill/>
          </a:ln>
        </p:spPr>
        <p:txBody>
          <a:bodyPr spcFirstLastPara="1" wrap="square" lIns="91425" tIns="45700" rIns="91425" bIns="45700" anchor="t" anchorCtr="0">
            <a:spAutoFit/>
          </a:bodyPr>
          <a:lstStyle/>
          <a:p>
            <a:endParaRPr lang="en-IN" sz="2000"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sp>
        <p:nvSpPr>
          <p:cNvPr id="7" name="Google Shape;136;p9">
            <a:extLst>
              <a:ext uri="{FF2B5EF4-FFF2-40B4-BE49-F238E27FC236}">
                <a16:creationId xmlns:a16="http://schemas.microsoft.com/office/drawing/2014/main" id="{54E6683B-16BC-B3B1-6465-48BC29988752}"/>
              </a:ext>
            </a:extLst>
          </p:cNvPr>
          <p:cNvSpPr txBox="1"/>
          <p:nvPr/>
        </p:nvSpPr>
        <p:spPr>
          <a:xfrm>
            <a:off x="193259" y="2417404"/>
            <a:ext cx="11235212" cy="1261844"/>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Analysis of Leading Antidepressant Claims (2019-2023):</a:t>
            </a:r>
            <a:r>
              <a:rPr lang="en-US" sz="2000" dirty="0">
                <a:latin typeface="Times New Roman" panose="02020603050405020304" pitchFamily="18" charset="0"/>
                <a:cs typeface="Times New Roman" panose="02020603050405020304" pitchFamily="18" charset="0"/>
              </a:rPr>
              <a:t> Based on total claims volume, the top three highly utilized antidepressant medications are Sertraline HCl, Mirtazapine, and Fluoxetine HCl.</a:t>
            </a:r>
          </a:p>
          <a:p>
            <a:endParaRPr lang="en-IN" sz="1800" dirty="0">
              <a:latin typeface="Times New Roman" panose="02020603050405020304" pitchFamily="18" charset="0"/>
              <a:cs typeface="Times New Roman" panose="02020603050405020304" pitchFamily="18" charset="0"/>
            </a:endParaRPr>
          </a:p>
          <a:p>
            <a:endParaRPr lang="en-US" sz="1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978355F-EE67-A38B-6CEE-869FCD2DD813}"/>
              </a:ext>
            </a:extLst>
          </p:cNvPr>
          <p:cNvSpPr txBox="1"/>
          <p:nvPr/>
        </p:nvSpPr>
        <p:spPr>
          <a:xfrm>
            <a:off x="193258" y="3180736"/>
            <a:ext cx="6378077" cy="403187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Claim Trend and Market Dominance: </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Sertraline HCl maintained consistent market leadership, ranking as the top-selling antidepressant among the three in every year from 2019 to 2023.</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The drug reached an all-time high of over 15 million claims in 2023, demonstrating accelerating popularity.</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While all three drugs exhibited an increase in claim volume over the five-year period, Sertraline HCl remained the dominant leader, with Mirtazapine and Fluoxetine HCl maintaining similar, but significantly lower, claim totals throughout the analysis period.</a:t>
            </a:r>
          </a:p>
          <a:p>
            <a:pPr marL="342900" indent="-342900">
              <a:buFont typeface="+mj-lt"/>
              <a:buAutoNum type="arabicPeriod"/>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5700EEB-10C8-E264-7D1C-33B8BDA357C2}"/>
              </a:ext>
            </a:extLst>
          </p:cNvPr>
          <p:cNvPicPr>
            <a:picLocks noChangeAspect="1"/>
          </p:cNvPicPr>
          <p:nvPr/>
        </p:nvPicPr>
        <p:blipFill>
          <a:blip r:embed="rId2"/>
          <a:stretch>
            <a:fillRect/>
          </a:stretch>
        </p:blipFill>
        <p:spPr>
          <a:xfrm>
            <a:off x="6571335" y="3318184"/>
            <a:ext cx="5427405" cy="3048349"/>
          </a:xfrm>
          <a:prstGeom prst="rect">
            <a:avLst/>
          </a:prstGeom>
          <a:ln>
            <a:solidFill>
              <a:schemeClr val="tx1"/>
            </a:solidFill>
          </a:ln>
        </p:spPr>
      </p:pic>
    </p:spTree>
    <p:extLst>
      <p:ext uri="{BB962C8B-B14F-4D97-AF65-F5344CB8AC3E}">
        <p14:creationId xmlns:p14="http://schemas.microsoft.com/office/powerpoint/2010/main" val="388982459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5;p9">
            <a:extLst>
              <a:ext uri="{FF2B5EF4-FFF2-40B4-BE49-F238E27FC236}">
                <a16:creationId xmlns:a16="http://schemas.microsoft.com/office/drawing/2014/main" id="{B074FA45-B29D-9EB8-1093-9D0C456D977F}"/>
              </a:ext>
            </a:extLst>
          </p:cNvPr>
          <p:cNvSpPr txBox="1"/>
          <p:nvPr/>
        </p:nvSpPr>
        <p:spPr>
          <a:xfrm>
            <a:off x="1261672" y="1092126"/>
            <a:ext cx="9668655" cy="634122"/>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IN" sz="4000" b="1" dirty="0">
                <a:latin typeface="Times New Roman" panose="02020603050405020304" pitchFamily="18" charset="0"/>
                <a:cs typeface="Times New Roman" panose="02020603050405020304" pitchFamily="18" charset="0"/>
              </a:rPr>
              <a:t>Objective 5 – Drug Specific Trend Analysis</a:t>
            </a:r>
            <a:endParaRPr sz="4000" b="1" dirty="0">
              <a:latin typeface="Times New Roman" panose="02020603050405020304" pitchFamily="18" charset="0"/>
              <a:cs typeface="Times New Roman" panose="02020603050405020304" pitchFamily="18" charset="0"/>
            </a:endParaRPr>
          </a:p>
        </p:txBody>
      </p:sp>
      <p:sp>
        <p:nvSpPr>
          <p:cNvPr id="3" name="Google Shape;136;p9">
            <a:extLst>
              <a:ext uri="{FF2B5EF4-FFF2-40B4-BE49-F238E27FC236}">
                <a16:creationId xmlns:a16="http://schemas.microsoft.com/office/drawing/2014/main" id="{28541DE6-3AED-ACAB-3DF9-8A16FB3583F5}"/>
              </a:ext>
            </a:extLst>
          </p:cNvPr>
          <p:cNvSpPr txBox="1"/>
          <p:nvPr/>
        </p:nvSpPr>
        <p:spPr>
          <a:xfrm>
            <a:off x="134510" y="1726248"/>
            <a:ext cx="10795817" cy="1015622"/>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Aim</a:t>
            </a:r>
            <a:r>
              <a:rPr lang="en-US"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Heatmap Analysis - Beneficiary Trends (2019–2023)</a:t>
            </a:r>
          </a:p>
          <a:p>
            <a:r>
              <a:rPr lang="en-US" sz="2000" b="1" dirty="0">
                <a:latin typeface="Times New Roman" panose="02020603050405020304" pitchFamily="18" charset="0"/>
                <a:cs typeface="Times New Roman" panose="02020603050405020304" pitchFamily="18" charset="0"/>
              </a:rPr>
              <a:t>Overview:</a:t>
            </a:r>
            <a:r>
              <a:rPr lang="en-US" sz="2000" dirty="0">
                <a:latin typeface="Times New Roman" panose="02020603050405020304" pitchFamily="18" charset="0"/>
                <a:cs typeface="Times New Roman" panose="02020603050405020304" pitchFamily="18" charset="0"/>
              </a:rPr>
              <a:t> This heatmap tracks beneficiary counts for three key antidepressants. The primary finding is the stark and growing dominance of Sertraline HCl over Fluoxetine HCl and Mirtazapine.</a:t>
            </a:r>
          </a:p>
        </p:txBody>
      </p:sp>
      <p:sp>
        <p:nvSpPr>
          <p:cNvPr id="4" name="TextBox 3">
            <a:extLst>
              <a:ext uri="{FF2B5EF4-FFF2-40B4-BE49-F238E27FC236}">
                <a16:creationId xmlns:a16="http://schemas.microsoft.com/office/drawing/2014/main" id="{438ECA9C-BF81-8C24-9967-2BA538992EC6}"/>
              </a:ext>
            </a:extLst>
          </p:cNvPr>
          <p:cNvSpPr txBox="1"/>
          <p:nvPr/>
        </p:nvSpPr>
        <p:spPr>
          <a:xfrm>
            <a:off x="134510" y="2847039"/>
            <a:ext cx="5812972" cy="3754874"/>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Key Findings :</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Sertraline HCl:</a:t>
            </a:r>
            <a:r>
              <a:rPr lang="en-US" sz="2000" dirty="0">
                <a:latin typeface="Times New Roman" panose="02020603050405020304" pitchFamily="18" charset="0"/>
                <a:cs typeface="Times New Roman" panose="02020603050405020304" pitchFamily="18" charset="0"/>
              </a:rPr>
              <a:t> Consistently dominant (&gt;4M beneficiaries) with a clear upward trend, visualized by a green-to-yellow color shift.</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Fluoxetine HCl &amp; Mirtazapine:</a:t>
            </a:r>
            <a:r>
              <a:rPr lang="en-US" sz="2000" dirty="0">
                <a:latin typeface="Times New Roman" panose="02020603050405020304" pitchFamily="18" charset="0"/>
                <a:cs typeface="Times New Roman" panose="02020603050405020304" pitchFamily="18" charset="0"/>
              </a:rPr>
              <a:t> Showed significantly smaller (2-3M range) and relatively flat beneficiary counts, visualized by dark blue/purple shades.</a:t>
            </a:r>
          </a:p>
          <a:p>
            <a:pPr marL="342900" indent="-342900">
              <a:buFont typeface="+mj-lt"/>
              <a:buAutoNum type="arabicPeriod"/>
            </a:pPr>
            <a:r>
              <a:rPr lang="en-US" sz="2000" b="1" dirty="0">
                <a:latin typeface="Times New Roman" panose="02020603050405020304" pitchFamily="18" charset="0"/>
                <a:cs typeface="Times New Roman" panose="02020603050405020304" pitchFamily="18" charset="0"/>
              </a:rPr>
              <a:t>Conclusion:</a:t>
            </a:r>
            <a:r>
              <a:rPr lang="en-US" sz="2000" dirty="0">
                <a:latin typeface="Times New Roman" panose="02020603050405020304" pitchFamily="18" charset="0"/>
                <a:cs typeface="Times New Roman" panose="02020603050405020304" pitchFamily="18" charset="0"/>
              </a:rPr>
              <a:t> The prescription volume gap between Sertraline and the other two drugs widened significantly from 2019 to 2023.</a:t>
            </a:r>
          </a:p>
          <a:p>
            <a:endParaRPr lang="en-IN" sz="1800" b="1" dirty="0">
              <a:latin typeface="Times New Roman" panose="02020603050405020304" pitchFamily="18" charset="0"/>
              <a:cs typeface="Times New Roman" panose="02020603050405020304" pitchFamily="18" charset="0"/>
            </a:endParaRPr>
          </a:p>
        </p:txBody>
      </p:sp>
      <p:pic>
        <p:nvPicPr>
          <p:cNvPr id="5" name="Picture 4" descr="A chart with different colors&#10;&#10;AI-generated content may be incorrect.">
            <a:extLst>
              <a:ext uri="{FF2B5EF4-FFF2-40B4-BE49-F238E27FC236}">
                <a16:creationId xmlns:a16="http://schemas.microsoft.com/office/drawing/2014/main" id="{2A1338B4-0595-9163-D6E5-8E954B4EC7E9}"/>
              </a:ext>
            </a:extLst>
          </p:cNvPr>
          <p:cNvPicPr>
            <a:picLocks noChangeAspect="1"/>
          </p:cNvPicPr>
          <p:nvPr/>
        </p:nvPicPr>
        <p:blipFill>
          <a:blip r:embed="rId2"/>
          <a:stretch>
            <a:fillRect/>
          </a:stretch>
        </p:blipFill>
        <p:spPr>
          <a:xfrm>
            <a:off x="6325809" y="2936628"/>
            <a:ext cx="5486947" cy="3575695"/>
          </a:xfrm>
          <a:prstGeom prst="rect">
            <a:avLst/>
          </a:prstGeom>
          <a:ln>
            <a:solidFill>
              <a:schemeClr val="tx1"/>
            </a:solidFill>
          </a:ln>
        </p:spPr>
      </p:pic>
    </p:spTree>
    <p:extLst>
      <p:ext uri="{BB962C8B-B14F-4D97-AF65-F5344CB8AC3E}">
        <p14:creationId xmlns:p14="http://schemas.microsoft.com/office/powerpoint/2010/main" val="167800291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5;p9">
            <a:extLst>
              <a:ext uri="{FF2B5EF4-FFF2-40B4-BE49-F238E27FC236}">
                <a16:creationId xmlns:a16="http://schemas.microsoft.com/office/drawing/2014/main" id="{A5354A5D-C8C6-5931-F90C-BDC556BEDE77}"/>
              </a:ext>
            </a:extLst>
          </p:cNvPr>
          <p:cNvSpPr txBox="1"/>
          <p:nvPr/>
        </p:nvSpPr>
        <p:spPr>
          <a:xfrm>
            <a:off x="491617" y="907898"/>
            <a:ext cx="11833328" cy="1121499"/>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IN" sz="4000" b="1" dirty="0">
                <a:latin typeface="Times New Roman" panose="02020603050405020304" pitchFamily="18" charset="0"/>
                <a:cs typeface="Times New Roman" panose="02020603050405020304" pitchFamily="18" charset="0"/>
              </a:rPr>
              <a:t>Objective 6 – Interrupted Time Series Analysis </a:t>
            </a:r>
            <a:endParaRPr sz="4000" b="1" dirty="0">
              <a:latin typeface="Times New Roman" panose="02020603050405020304" pitchFamily="18" charset="0"/>
              <a:cs typeface="Times New Roman" panose="02020603050405020304" pitchFamily="18" charset="0"/>
            </a:endParaRPr>
          </a:p>
        </p:txBody>
      </p:sp>
      <p:sp>
        <p:nvSpPr>
          <p:cNvPr id="5" name="Google Shape;136;p9">
            <a:extLst>
              <a:ext uri="{FF2B5EF4-FFF2-40B4-BE49-F238E27FC236}">
                <a16:creationId xmlns:a16="http://schemas.microsoft.com/office/drawing/2014/main" id="{826DF510-FF12-8DE0-3642-D6139C307C1B}"/>
              </a:ext>
            </a:extLst>
          </p:cNvPr>
          <p:cNvSpPr txBox="1"/>
          <p:nvPr/>
        </p:nvSpPr>
        <p:spPr>
          <a:xfrm>
            <a:off x="407109" y="1832074"/>
            <a:ext cx="10601436" cy="707846"/>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Aim: </a:t>
            </a:r>
            <a:r>
              <a:rPr lang="en-IN" sz="2000" dirty="0">
                <a:latin typeface="Times New Roman" panose="02020603050405020304" pitchFamily="18" charset="0"/>
                <a:cs typeface="Times New Roman" panose="02020603050405020304" pitchFamily="18" charset="0"/>
              </a:rPr>
              <a:t>To evaluate how the COVID-19 pandemic influenced antidepressant drug consumption trends by comparing the actual post-2020 values to the expected trend estimated from 2010–2019 data.</a:t>
            </a:r>
            <a:endParaRPr lang="en-US" sz="2000" b="1" dirty="0">
              <a:latin typeface="Times New Roman" panose="02020603050405020304" pitchFamily="18" charset="0"/>
              <a:cs typeface="Times New Roman" panose="02020603050405020304" pitchFamily="18" charset="0"/>
            </a:endParaRPr>
          </a:p>
        </p:txBody>
      </p:sp>
      <p:sp>
        <p:nvSpPr>
          <p:cNvPr id="6" name="Google Shape;136;p9">
            <a:extLst>
              <a:ext uri="{FF2B5EF4-FFF2-40B4-BE49-F238E27FC236}">
                <a16:creationId xmlns:a16="http://schemas.microsoft.com/office/drawing/2014/main" id="{63CFA4C9-9A25-0DBE-022C-8698A680A32B}"/>
              </a:ext>
            </a:extLst>
          </p:cNvPr>
          <p:cNvSpPr txBox="1"/>
          <p:nvPr/>
        </p:nvSpPr>
        <p:spPr>
          <a:xfrm>
            <a:off x="335826" y="2518247"/>
            <a:ext cx="10601436" cy="707846"/>
          </a:xfrm>
          <a:prstGeom prst="rect">
            <a:avLst/>
          </a:prstGeom>
          <a:noFill/>
          <a:ln>
            <a:noFill/>
          </a:ln>
        </p:spPr>
        <p:txBody>
          <a:bodyPr spcFirstLastPara="1" wrap="square" lIns="91425" tIns="45700" rIns="91425" bIns="45700" anchor="t" anchorCtr="0">
            <a:spAutoFit/>
          </a:bodyPr>
          <a:lstStyle/>
          <a:p>
            <a:endParaRPr lang="en-IN" sz="2000"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sp>
        <p:nvSpPr>
          <p:cNvPr id="7" name="Google Shape;136;p9">
            <a:extLst>
              <a:ext uri="{FF2B5EF4-FFF2-40B4-BE49-F238E27FC236}">
                <a16:creationId xmlns:a16="http://schemas.microsoft.com/office/drawing/2014/main" id="{031977B2-2BE7-260E-B900-8584BE11872C}"/>
              </a:ext>
            </a:extLst>
          </p:cNvPr>
          <p:cNvSpPr txBox="1"/>
          <p:nvPr/>
        </p:nvSpPr>
        <p:spPr>
          <a:xfrm>
            <a:off x="407109" y="2431620"/>
            <a:ext cx="12035262" cy="1631175"/>
          </a:xfrm>
          <a:prstGeom prst="rect">
            <a:avLst/>
          </a:prstGeom>
          <a:noFill/>
          <a:ln>
            <a:noFill/>
          </a:ln>
        </p:spPr>
        <p:txBody>
          <a:bodyPr spcFirstLastPara="1" wrap="square" lIns="91425" tIns="45700" rIns="91425" bIns="45700" anchor="t" anchorCtr="0">
            <a:spAutoFit/>
          </a:bodyPr>
          <a:lstStyle/>
          <a:p>
            <a:r>
              <a:rPr lang="en-IN" sz="2000" b="1" dirty="0">
                <a:latin typeface="Times New Roman" panose="02020603050405020304" pitchFamily="18" charset="0"/>
                <a:cs typeface="Times New Roman" panose="02020603050405020304" pitchFamily="18" charset="0"/>
              </a:rPr>
              <a:t>Method Overview: </a:t>
            </a:r>
          </a:p>
          <a:p>
            <a:r>
              <a:rPr lang="en-IN" sz="2000" dirty="0">
                <a:latin typeface="Times New Roman" panose="02020603050405020304" pitchFamily="18" charset="0"/>
                <a:cs typeface="Times New Roman" panose="02020603050405020304" pitchFamily="18" charset="0"/>
              </a:rPr>
              <a:t>1) Created variables: time (year index); </a:t>
            </a:r>
            <a:r>
              <a:rPr lang="en-IN" sz="2000" dirty="0" err="1">
                <a:latin typeface="Times New Roman" panose="02020603050405020304" pitchFamily="18" charset="0"/>
                <a:cs typeface="Times New Roman" panose="02020603050405020304" pitchFamily="18" charset="0"/>
              </a:rPr>
              <a:t>post_covid</a:t>
            </a:r>
            <a:r>
              <a:rPr lang="en-IN" sz="2000" dirty="0">
                <a:latin typeface="Times New Roman" panose="02020603050405020304" pitchFamily="18" charset="0"/>
                <a:cs typeface="Times New Roman" panose="02020603050405020304" pitchFamily="18" charset="0"/>
              </a:rPr>
              <a:t> (0 before 2020, 1 after); </a:t>
            </a:r>
            <a:r>
              <a:rPr lang="en-IN" sz="2000" dirty="0" err="1">
                <a:latin typeface="Times New Roman" panose="02020603050405020304" pitchFamily="18" charset="0"/>
                <a:cs typeface="Times New Roman" panose="02020603050405020304" pitchFamily="18" charset="0"/>
              </a:rPr>
              <a:t>time_after_covid</a:t>
            </a:r>
            <a:r>
              <a:rPr lang="en-IN" sz="2000" dirty="0">
                <a:latin typeface="Times New Roman" panose="02020603050405020304" pitchFamily="18" charset="0"/>
                <a:cs typeface="Times New Roman" panose="02020603050405020304" pitchFamily="18" charset="0"/>
              </a:rPr>
              <a:t> (starts at 1 in 2020)</a:t>
            </a:r>
          </a:p>
          <a:p>
            <a:r>
              <a:rPr lang="en-IN" sz="2000" dirty="0">
                <a:latin typeface="Times New Roman" panose="02020603050405020304" pitchFamily="18" charset="0"/>
                <a:cs typeface="Times New Roman" panose="02020603050405020304" pitchFamily="18" charset="0"/>
              </a:rPr>
              <a:t>2) Applied Interrupted Time Series (Segmented Regression) to estimate: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Immediate Level Change in 2020 (β₂)</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Trend/Slope Change after 2020 (β₃)</a:t>
            </a:r>
            <a:endParaRPr lang="en-US"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18E6796-CC9F-2681-25C2-31AE932F1563}"/>
              </a:ext>
            </a:extLst>
          </p:cNvPr>
          <p:cNvSpPr txBox="1"/>
          <p:nvPr/>
        </p:nvSpPr>
        <p:spPr>
          <a:xfrm>
            <a:off x="407109" y="4117731"/>
            <a:ext cx="5547377" cy="255454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Key Findings (France):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Before 2020, drug consumption remained stable.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 2020, there was a small upward level shift.</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After 2020, the slope increased sharply, indicating faster growth in usage.</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Suggests increased mental health needs and adoption of telemedicine for prescriptions post-COVID.</a:t>
            </a:r>
          </a:p>
        </p:txBody>
      </p:sp>
      <p:pic>
        <p:nvPicPr>
          <p:cNvPr id="11" name="Picture 10">
            <a:extLst>
              <a:ext uri="{FF2B5EF4-FFF2-40B4-BE49-F238E27FC236}">
                <a16:creationId xmlns:a16="http://schemas.microsoft.com/office/drawing/2014/main" id="{366D67E9-1869-C1EF-B79F-8043E07F54ED}"/>
              </a:ext>
            </a:extLst>
          </p:cNvPr>
          <p:cNvPicPr>
            <a:picLocks noChangeAspect="1"/>
          </p:cNvPicPr>
          <p:nvPr/>
        </p:nvPicPr>
        <p:blipFill>
          <a:blip r:embed="rId2"/>
          <a:stretch>
            <a:fillRect/>
          </a:stretch>
        </p:blipFill>
        <p:spPr>
          <a:xfrm>
            <a:off x="6096000" y="3464096"/>
            <a:ext cx="5891488" cy="3106716"/>
          </a:xfrm>
          <a:prstGeom prst="rect">
            <a:avLst/>
          </a:prstGeom>
          <a:ln>
            <a:solidFill>
              <a:schemeClr val="tx1"/>
            </a:solidFill>
          </a:ln>
        </p:spPr>
      </p:pic>
    </p:spTree>
    <p:extLst>
      <p:ext uri="{BB962C8B-B14F-4D97-AF65-F5344CB8AC3E}">
        <p14:creationId xmlns:p14="http://schemas.microsoft.com/office/powerpoint/2010/main" val="108729673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5;p9">
            <a:extLst>
              <a:ext uri="{FF2B5EF4-FFF2-40B4-BE49-F238E27FC236}">
                <a16:creationId xmlns:a16="http://schemas.microsoft.com/office/drawing/2014/main" id="{6C7F6D23-23E6-D0DC-E640-FD84B50C3D4D}"/>
              </a:ext>
            </a:extLst>
          </p:cNvPr>
          <p:cNvSpPr txBox="1"/>
          <p:nvPr/>
        </p:nvSpPr>
        <p:spPr>
          <a:xfrm>
            <a:off x="491617" y="907898"/>
            <a:ext cx="11833328" cy="1121499"/>
          </a:xfrm>
          <a:prstGeom prst="rect">
            <a:avLst/>
          </a:prstGeom>
          <a:noFill/>
          <a:ln>
            <a:noFill/>
          </a:ln>
        </p:spPr>
        <p:txBody>
          <a:bodyPr spcFirstLastPara="1" wrap="square" lIns="91425" tIns="45700" rIns="91425" bIns="45700" anchor="ctr" anchorCtr="0">
            <a:noAutofit/>
          </a:bodyPr>
          <a:lstStyle/>
          <a:p>
            <a:pPr lvl="0">
              <a:buClr>
                <a:schemeClr val="dk1"/>
              </a:buClr>
              <a:buSzPts val="4400"/>
            </a:pPr>
            <a:r>
              <a:rPr lang="en-IN" sz="4000" b="1" dirty="0">
                <a:latin typeface="Times New Roman" panose="02020603050405020304" pitchFamily="18" charset="0"/>
                <a:cs typeface="Times New Roman" panose="02020603050405020304" pitchFamily="18" charset="0"/>
              </a:rPr>
              <a:t>Objective 6 – Interrupted Time Series Analysis </a:t>
            </a:r>
            <a:endParaRPr sz="4000" b="1" dirty="0">
              <a:latin typeface="Times New Roman" panose="02020603050405020304" pitchFamily="18" charset="0"/>
              <a:cs typeface="Times New Roman" panose="02020603050405020304" pitchFamily="18" charset="0"/>
            </a:endParaRPr>
          </a:p>
        </p:txBody>
      </p:sp>
      <p:sp>
        <p:nvSpPr>
          <p:cNvPr id="3" name="Google Shape;136;p9">
            <a:extLst>
              <a:ext uri="{FF2B5EF4-FFF2-40B4-BE49-F238E27FC236}">
                <a16:creationId xmlns:a16="http://schemas.microsoft.com/office/drawing/2014/main" id="{1355A323-094A-5CE4-002A-32570E2BFE51}"/>
              </a:ext>
            </a:extLst>
          </p:cNvPr>
          <p:cNvSpPr txBox="1"/>
          <p:nvPr/>
        </p:nvSpPr>
        <p:spPr>
          <a:xfrm>
            <a:off x="219093" y="1829362"/>
            <a:ext cx="11668157" cy="400069"/>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Aim: </a:t>
            </a:r>
            <a:r>
              <a:rPr lang="en-IN" sz="2000" dirty="0">
                <a:latin typeface="Times New Roman" panose="02020603050405020304" pitchFamily="18" charset="0"/>
                <a:cs typeface="Times New Roman" panose="02020603050405020304" pitchFamily="18" charset="0"/>
              </a:rPr>
              <a:t>To compare the immediate impact of COVID-19 on antidepressant consumption across multiple countries.</a:t>
            </a:r>
          </a:p>
        </p:txBody>
      </p:sp>
      <p:sp>
        <p:nvSpPr>
          <p:cNvPr id="4" name="Google Shape;136;p9">
            <a:extLst>
              <a:ext uri="{FF2B5EF4-FFF2-40B4-BE49-F238E27FC236}">
                <a16:creationId xmlns:a16="http://schemas.microsoft.com/office/drawing/2014/main" id="{7DA2FEF3-B6AD-0C22-4D41-521942450FDD}"/>
              </a:ext>
            </a:extLst>
          </p:cNvPr>
          <p:cNvSpPr txBox="1"/>
          <p:nvPr/>
        </p:nvSpPr>
        <p:spPr>
          <a:xfrm>
            <a:off x="335826" y="2518247"/>
            <a:ext cx="10601436" cy="707846"/>
          </a:xfrm>
          <a:prstGeom prst="rect">
            <a:avLst/>
          </a:prstGeom>
          <a:noFill/>
          <a:ln>
            <a:noFill/>
          </a:ln>
        </p:spPr>
        <p:txBody>
          <a:bodyPr spcFirstLastPara="1" wrap="square" lIns="91425" tIns="45700" rIns="91425" bIns="45700" anchor="t" anchorCtr="0">
            <a:spAutoFit/>
          </a:bodyPr>
          <a:lstStyle/>
          <a:p>
            <a:endParaRPr lang="en-IN" sz="2000"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p:txBody>
      </p:sp>
      <p:sp>
        <p:nvSpPr>
          <p:cNvPr id="5" name="Google Shape;136;p9">
            <a:extLst>
              <a:ext uri="{FF2B5EF4-FFF2-40B4-BE49-F238E27FC236}">
                <a16:creationId xmlns:a16="http://schemas.microsoft.com/office/drawing/2014/main" id="{A9D6D20B-6EA2-7D50-C4F0-A7612BE8C037}"/>
              </a:ext>
            </a:extLst>
          </p:cNvPr>
          <p:cNvSpPr txBox="1"/>
          <p:nvPr/>
        </p:nvSpPr>
        <p:spPr>
          <a:xfrm>
            <a:off x="219093" y="2165201"/>
            <a:ext cx="10915887" cy="707846"/>
          </a:xfrm>
          <a:prstGeom prst="rect">
            <a:avLst/>
          </a:prstGeom>
          <a:noFill/>
          <a:ln>
            <a:noFill/>
          </a:ln>
        </p:spPr>
        <p:txBody>
          <a:bodyPr spcFirstLastPara="1" wrap="square" lIns="91425" tIns="45700" rIns="91425" bIns="45700" anchor="t" anchorCtr="0">
            <a:spAutoFit/>
          </a:bodyPr>
          <a:lstStyle/>
          <a:p>
            <a:r>
              <a:rPr lang="en-IN" sz="2000" b="1" dirty="0">
                <a:latin typeface="Times New Roman" panose="02020603050405020304" pitchFamily="18" charset="0"/>
                <a:cs typeface="Times New Roman" panose="02020603050405020304" pitchFamily="18" charset="0"/>
              </a:rPr>
              <a:t>Overview: </a:t>
            </a:r>
            <a:r>
              <a:rPr lang="en-IN" sz="2000" dirty="0">
                <a:latin typeface="Times New Roman" panose="02020603050405020304" pitchFamily="18" charset="0"/>
                <a:cs typeface="Times New Roman" panose="02020603050405020304" pitchFamily="18" charset="0"/>
              </a:rPr>
              <a:t>The Level Change (β₂) measures whether drug consumption jumped up or dropped in 2020 relative to the previous trend.</a:t>
            </a: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640BB47-C7A0-F91F-1C33-451664E70260}"/>
              </a:ext>
            </a:extLst>
          </p:cNvPr>
          <p:cNvSpPr txBox="1"/>
          <p:nvPr/>
        </p:nvSpPr>
        <p:spPr>
          <a:xfrm>
            <a:off x="219093" y="2781988"/>
            <a:ext cx="5760174" cy="286232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Key Findings: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Chile, Canada, Iceland, and the UK experienced large immediate increases, indicating rapid rise in mental health treatment during the pandemic.</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Israel, Slovak Republic, and New Zealand showed small decreases, likely due to reduced healthcare access and delayed prescriptions.</a:t>
            </a: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Variation reflects differences in healthcare capacity, telehealth adoption, and COVID-response policies.</a:t>
            </a:r>
          </a:p>
        </p:txBody>
      </p:sp>
      <p:sp>
        <p:nvSpPr>
          <p:cNvPr id="8" name="TextBox 7">
            <a:extLst>
              <a:ext uri="{FF2B5EF4-FFF2-40B4-BE49-F238E27FC236}">
                <a16:creationId xmlns:a16="http://schemas.microsoft.com/office/drawing/2014/main" id="{66C74ADC-A179-B22E-3E6B-5619CE5A4429}"/>
              </a:ext>
            </a:extLst>
          </p:cNvPr>
          <p:cNvSpPr txBox="1"/>
          <p:nvPr/>
        </p:nvSpPr>
        <p:spPr>
          <a:xfrm>
            <a:off x="219093" y="5644310"/>
            <a:ext cx="11395963" cy="101566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Interpretation:</a:t>
            </a:r>
          </a:p>
          <a:p>
            <a:r>
              <a:rPr lang="en-IN" sz="2000" dirty="0">
                <a:latin typeface="Times New Roman" panose="02020603050405020304" pitchFamily="18" charset="0"/>
                <a:cs typeface="Times New Roman" panose="02020603050405020304" pitchFamily="18" charset="0"/>
              </a:rPr>
              <a:t>The pandemic did not affect all countries equally: regions with stronger mental healthcare support systems and telemedicine adoption experienced larger increases, while others saw temporary declines.</a:t>
            </a:r>
          </a:p>
        </p:txBody>
      </p:sp>
      <p:pic>
        <p:nvPicPr>
          <p:cNvPr id="10" name="Picture 9">
            <a:extLst>
              <a:ext uri="{FF2B5EF4-FFF2-40B4-BE49-F238E27FC236}">
                <a16:creationId xmlns:a16="http://schemas.microsoft.com/office/drawing/2014/main" id="{83504859-5CAB-086C-5BEE-0B95A4C8FEE3}"/>
              </a:ext>
            </a:extLst>
          </p:cNvPr>
          <p:cNvPicPr>
            <a:picLocks noChangeAspect="1"/>
          </p:cNvPicPr>
          <p:nvPr/>
        </p:nvPicPr>
        <p:blipFill>
          <a:blip r:embed="rId2"/>
          <a:stretch>
            <a:fillRect/>
          </a:stretch>
        </p:blipFill>
        <p:spPr>
          <a:xfrm>
            <a:off x="6053171" y="2745301"/>
            <a:ext cx="5979266" cy="2855564"/>
          </a:xfrm>
          <a:prstGeom prst="rect">
            <a:avLst/>
          </a:prstGeom>
          <a:ln>
            <a:solidFill>
              <a:schemeClr val="tx1"/>
            </a:solidFill>
          </a:ln>
        </p:spPr>
      </p:pic>
    </p:spTree>
    <p:extLst>
      <p:ext uri="{BB962C8B-B14F-4D97-AF65-F5344CB8AC3E}">
        <p14:creationId xmlns:p14="http://schemas.microsoft.com/office/powerpoint/2010/main" val="54148732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93A19427-9216-8101-BAFA-E8C930F3CFD5}"/>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C9B6EA4F-88A5-F1EB-51F6-81886698A46C}"/>
              </a:ext>
            </a:extLst>
          </p:cNvPr>
          <p:cNvSpPr txBox="1"/>
          <p:nvPr/>
        </p:nvSpPr>
        <p:spPr>
          <a:xfrm>
            <a:off x="1817914" y="1375431"/>
            <a:ext cx="8010430" cy="650375"/>
          </a:xfrm>
          <a:prstGeom prst="rect">
            <a:avLst/>
          </a:prstGeom>
          <a:noFill/>
          <a:ln>
            <a:noFill/>
          </a:ln>
        </p:spPr>
        <p:txBody>
          <a:bodyPr spcFirstLastPara="1" wrap="square" lIns="91425" tIns="45700" rIns="91425" bIns="45700" anchor="ctr" anchorCtr="0">
            <a:noAutofit/>
          </a:bodyPr>
          <a:lstStyle/>
          <a:p>
            <a:pPr lvl="0" algn="ctr">
              <a:buClr>
                <a:schemeClr val="dk1"/>
              </a:buClr>
              <a:buSzPts val="4400"/>
            </a:pPr>
            <a:r>
              <a:rPr lang="en-IN" sz="4000" b="1" dirty="0">
                <a:latin typeface="Times New Roman" panose="02020603050405020304" pitchFamily="18" charset="0"/>
                <a:cs typeface="Times New Roman" panose="02020603050405020304" pitchFamily="18" charset="0"/>
              </a:rPr>
              <a:t>FUTURE SCOPE</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6577F741-D3F7-ECAE-9BEA-50C8154324AE}"/>
              </a:ext>
            </a:extLst>
          </p:cNvPr>
          <p:cNvSpPr txBox="1"/>
          <p:nvPr/>
        </p:nvSpPr>
        <p:spPr>
          <a:xfrm>
            <a:off x="478393" y="2406541"/>
            <a:ext cx="11235213" cy="3477835"/>
          </a:xfrm>
          <a:prstGeom prst="rect">
            <a:avLst/>
          </a:prstGeom>
          <a:noFill/>
          <a:ln>
            <a:noFill/>
          </a:ln>
        </p:spPr>
        <p:txBody>
          <a:bodyPr spcFirstLastPara="1" wrap="square" lIns="91425" tIns="45700" rIns="91425" bIns="45700" anchor="t" anchorCtr="0">
            <a:spAutoFit/>
          </a:bodyPr>
          <a:lstStyle/>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Extend claims-level dataset to 10-15 years for improved statistical power</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Incorporate economic indicators (unemployment rates, GDP growth, consumer confidence)</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Add healthcare access metrics (insurance coverage, provider density, telehealth adoption)</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Include demographic variables (population aging, urbanization rates)</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Geographic expansion to emerging markets (different development stages)</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Supply-side data integration (manufacturing capacity, API availability, regulatory timelines)</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Drug-level forecasting beyond top 3 (substitution patterns, competitive dynamics)</a:t>
            </a:r>
          </a:p>
          <a:p>
            <a:pPr marL="285750" indent="-28575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data sources (prescription tracking systems, electronic health records)</a:t>
            </a:r>
          </a:p>
          <a:p>
            <a:pPr fontAlgn="base"/>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Advanced Methodological Approaches:</a:t>
            </a:r>
            <a:r>
              <a:rPr lang="en-IN" sz="2000" dirty="0">
                <a:latin typeface="Times New Roman" panose="02020603050405020304" pitchFamily="18" charset="0"/>
                <a:cs typeface="Times New Roman" panose="02020603050405020304" pitchFamily="18" charset="0"/>
              </a:rPr>
              <a:t> Machine Learning, Ensemble Methods, Panel Data Analysis, Vector Autoregression (VAR)</a:t>
            </a:r>
          </a:p>
        </p:txBody>
      </p:sp>
    </p:spTree>
    <p:extLst>
      <p:ext uri="{BB962C8B-B14F-4D97-AF65-F5344CB8AC3E}">
        <p14:creationId xmlns:p14="http://schemas.microsoft.com/office/powerpoint/2010/main" val="3559026170"/>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4">
          <a:extLst>
            <a:ext uri="{FF2B5EF4-FFF2-40B4-BE49-F238E27FC236}">
              <a16:creationId xmlns:a16="http://schemas.microsoft.com/office/drawing/2014/main" id="{71EF52DE-55F9-BDEE-433E-7BF85658569D}"/>
            </a:ext>
          </a:extLst>
        </p:cNvPr>
        <p:cNvGrpSpPr/>
        <p:nvPr/>
      </p:nvGrpSpPr>
      <p:grpSpPr>
        <a:xfrm>
          <a:off x="0" y="0"/>
          <a:ext cx="0" cy="0"/>
          <a:chOff x="0" y="0"/>
          <a:chExt cx="0" cy="0"/>
        </a:xfrm>
      </p:grpSpPr>
      <p:sp>
        <p:nvSpPr>
          <p:cNvPr id="135" name="Google Shape;135;p9">
            <a:extLst>
              <a:ext uri="{FF2B5EF4-FFF2-40B4-BE49-F238E27FC236}">
                <a16:creationId xmlns:a16="http://schemas.microsoft.com/office/drawing/2014/main" id="{941BD2F6-4918-E3CC-054B-E279D50FB29C}"/>
              </a:ext>
            </a:extLst>
          </p:cNvPr>
          <p:cNvSpPr txBox="1"/>
          <p:nvPr/>
        </p:nvSpPr>
        <p:spPr>
          <a:xfrm>
            <a:off x="1817914" y="1375431"/>
            <a:ext cx="8010430" cy="650375"/>
          </a:xfrm>
          <a:prstGeom prst="rect">
            <a:avLst/>
          </a:prstGeom>
          <a:noFill/>
          <a:ln>
            <a:noFill/>
          </a:ln>
        </p:spPr>
        <p:txBody>
          <a:bodyPr spcFirstLastPara="1" wrap="square" lIns="91425" tIns="45700" rIns="91425" bIns="45700" anchor="ctr" anchorCtr="0">
            <a:noAutofit/>
          </a:bodyPr>
          <a:lstStyle/>
          <a:p>
            <a:pPr lvl="0" algn="ctr">
              <a:buClr>
                <a:schemeClr val="dk1"/>
              </a:buClr>
              <a:buSzPts val="4400"/>
            </a:pPr>
            <a:r>
              <a:rPr lang="en-IN" sz="4000" b="1" dirty="0">
                <a:latin typeface="Times New Roman" panose="02020603050405020304" pitchFamily="18" charset="0"/>
                <a:cs typeface="Times New Roman" panose="02020603050405020304" pitchFamily="18" charset="0"/>
              </a:rPr>
              <a:t>LIMITATIONS</a:t>
            </a:r>
            <a:endParaRPr sz="4000" b="1" dirty="0">
              <a:latin typeface="Times New Roman" panose="02020603050405020304" pitchFamily="18" charset="0"/>
              <a:cs typeface="Times New Roman" panose="02020603050405020304" pitchFamily="18" charset="0"/>
            </a:endParaRPr>
          </a:p>
        </p:txBody>
      </p:sp>
      <p:sp>
        <p:nvSpPr>
          <p:cNvPr id="136" name="Google Shape;136;p9">
            <a:extLst>
              <a:ext uri="{FF2B5EF4-FFF2-40B4-BE49-F238E27FC236}">
                <a16:creationId xmlns:a16="http://schemas.microsoft.com/office/drawing/2014/main" id="{4AA1CC91-286D-5755-991A-FB2B9E7F857C}"/>
              </a:ext>
            </a:extLst>
          </p:cNvPr>
          <p:cNvSpPr txBox="1"/>
          <p:nvPr/>
        </p:nvSpPr>
        <p:spPr>
          <a:xfrm>
            <a:off x="234043" y="2221749"/>
            <a:ext cx="11723914" cy="3785611"/>
          </a:xfrm>
          <a:prstGeom prst="rect">
            <a:avLst/>
          </a:prstGeom>
          <a:noFill/>
          <a:ln>
            <a:noFill/>
          </a:ln>
        </p:spPr>
        <p:txBody>
          <a:bodyPr spcFirstLastPara="1" wrap="square" lIns="91425" tIns="45700" rIns="91425" bIns="45700" anchor="t" anchorCtr="0">
            <a:spAutoFit/>
          </a:bodyPr>
          <a:lstStyle/>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Claims-level dataset spans only 5 years (2019-2023). Small sample size (n=5) severely restricts statistical power for multivariate analysis. COVID-19 comprises 60% of observation period, potentially distorting "normal" patterns. Short time series limits model complexity and long-term forecast confidence.</a:t>
            </a:r>
          </a:p>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Cross-country data subject to heterogeneous reporting standards. Healthcare system structural differences affect data comparability. PPP adjustments may not perfectly capture pharmaceutical-specific purchasing power.</a:t>
            </a:r>
          </a:p>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Perfect correlation between predictors prevents decomposition into constituent components. Inherent to data structure (shared time trend) rather than modeling failure. Limits understanding of individual causal mechanisms.</a:t>
            </a:r>
          </a:p>
          <a:p>
            <a:pPr marL="342900" indent="-342900" fontAlgn="base">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Models assume future resembles historical patterns. Susceptible to unprecedented events, major policy changes, structural market shifts. Breakthrough drug introductions or regulatory reforms could invalidate projections.</a:t>
            </a:r>
          </a:p>
        </p:txBody>
      </p:sp>
    </p:spTree>
    <p:extLst>
      <p:ext uri="{BB962C8B-B14F-4D97-AF65-F5344CB8AC3E}">
        <p14:creationId xmlns:p14="http://schemas.microsoft.com/office/powerpoint/2010/main" val="638881666"/>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1"/>
          <p:cNvSpPr txBox="1"/>
          <p:nvPr/>
        </p:nvSpPr>
        <p:spPr>
          <a:xfrm>
            <a:off x="1977117" y="1315346"/>
            <a:ext cx="7954738" cy="65037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4400"/>
              <a:buFont typeface="Century Gothic"/>
              <a:buNone/>
            </a:pPr>
            <a:r>
              <a:rPr lang="en-IN" sz="4000" b="1" i="0" u="none" strike="noStrike" cap="none" dirty="0">
                <a:solidFill>
                  <a:schemeClr val="dk1"/>
                </a:solidFill>
                <a:latin typeface="Times New Roman"/>
                <a:ea typeface="Times New Roman"/>
                <a:cs typeface="Times New Roman"/>
                <a:sym typeface="Times New Roman"/>
              </a:rPr>
              <a:t>CONCLUSION</a:t>
            </a:r>
            <a:endParaRPr dirty="0"/>
          </a:p>
        </p:txBody>
      </p:sp>
      <p:sp>
        <p:nvSpPr>
          <p:cNvPr id="301" name="Google Shape;301;p31"/>
          <p:cNvSpPr/>
          <p:nvPr/>
        </p:nvSpPr>
        <p:spPr>
          <a:xfrm>
            <a:off x="265770" y="2399087"/>
            <a:ext cx="11660459" cy="3785611"/>
          </a:xfrm>
          <a:prstGeom prst="rect">
            <a:avLst/>
          </a:prstGeom>
          <a:noFill/>
          <a:ln>
            <a:noFill/>
          </a:ln>
        </p:spPr>
        <p:txBody>
          <a:bodyPr spcFirstLastPara="1" wrap="square" lIns="91425" tIns="45700" rIns="91425" bIns="45700" anchor="ctr" anchorCtr="0">
            <a:spAutoFit/>
          </a:bodyPr>
          <a:lstStyle/>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Antidepressant consumption exhibits sustained upward momentum across developed economies (2010-2024)</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UK and Canada fastest-growing (2.94%, 2.89% CAGR); US maintains highest absolute spending</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Synchronized global trends driven by demographic aging, destigmatization, improved diagnostics</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Prophet algorithm achieves superior performance (RMSE=0.35, MAE=0.28, MAPE=0.61%)</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Flexible changepoint detection outperforms classical ARIMA and ETS approaches</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Validated 3-year projections provide actionable planning intelligence</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Small sample size (n=5) with perfect multicollinearity prevents reliable parameter estimation</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Univariate exponential smoothing provides superior practical solution</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Methodological lesson: match analytical complexity to data structure constraints</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Oligopolistic concentration among top 3 generic manufacturers (Aurobindo, Lupin, Teva)</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Sertraline HCl dominates with &gt;15M claims, creating supply chain vulnerability</a:t>
            </a:r>
          </a:p>
          <a:p>
            <a:pPr marL="342900" indent="-342900" fontAlgn="base">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Price-volume trade-off: unit prices ↓27.7% while claims ↑12.6% (2019-2023)</a:t>
            </a:r>
          </a:p>
        </p:txBody>
      </p:sp>
    </p:spTree>
  </p:cSld>
  <p:clrMapOvr>
    <a:masterClrMapping/>
  </p:clrMapOvr>
  <p:transition spd="slow">
    <p:wipe/>
  </p:transition>
</p:sld>
</file>

<file path=ppt/theme/theme1.xml><?xml version="1.0" encoding="utf-8"?>
<a:theme xmlns:a="http://schemas.openxmlformats.org/drawingml/2006/main" name="15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2872</TotalTime>
  <Words>3447</Words>
  <Application>Microsoft Office PowerPoint</Application>
  <PresentationFormat>Widescreen</PresentationFormat>
  <Paragraphs>392</Paragraphs>
  <Slides>28</Slides>
  <Notes>19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Century Gothic</vt:lpstr>
      <vt:lpstr>Times New Roman</vt:lpstr>
      <vt:lpstr>Wingdings</vt:lpstr>
      <vt:lpstr>Calibri</vt:lpstr>
      <vt:lpstr>15_Custom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Prashant Dhamale</dc:creator>
  <cp:lastModifiedBy>Sameer Bhavnani</cp:lastModifiedBy>
  <cp:revision>9</cp:revision>
  <dcterms:created xsi:type="dcterms:W3CDTF">2013-10-09T13:08:33Z</dcterms:created>
  <dcterms:modified xsi:type="dcterms:W3CDTF">2025-11-07T20:25:53Z</dcterms:modified>
</cp:coreProperties>
</file>